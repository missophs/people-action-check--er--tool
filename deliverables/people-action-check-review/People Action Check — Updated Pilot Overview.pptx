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Reviewed against src/handlers.js, src/views.js, src/scoring.js, src/worker.js and cloud SQL. Live October 9: Slack interactivity saved and verified after reload; history and saved assessment opened; policy empty state and HR queue opened; new-check selection modal opened without saving. Storage health returned HTTP 200 / ok after deployment. Feature claims are supported by implementation and automated tests; not every feature was exercised live in this repair. Cloud backup/restore has not been verified. No external AI provider is called by People Action Check. This is separate from Performance Check-In.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picker/wizard/history/supportingForm/followupForm in src/views.js; registered callbacks in src/handlers.js. Report generation is DOCX delivered via Slack DM, not email. Follow-up dates do not schedule notifications. Tests cover partial saves, evidence, report export and follow-up, with external Slack calls substituted.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HR Download Word report button added and deployed October 9, Worker f01a6484-2427-4ec9-a480-b96102ccda3f. Export is restricted server-side to authorized HR reviewers and reads the saved team submission. Includes saved HR status, note, reviewer and evidence references. Save review edits before exporting. Live Slack download delivery remains unverified; automated real DOCX and authorization tests pass. src/handlers.js preserves submitted answers and gates HR access; HR sees the full assessment, adds HR evidence and maintains review fields. Governance Center is implemented, not future work. HR review update notification is implemented and tested. Delivery failure/retry is tracked separately from saving the HR snapshot. Current live repair verified HR queue access only; it did not send notifications or alter existing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src/scoring.js v2 uses polarity-aware weighted ratios, with critical-answer override. Old records and shared snapshots retain historical calculations unless explicitly recalculated. Displayed guidance is inherited project content, not independently certified legal advice. The slide describes app behavior rather than providing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controls enforced by handlers and typed storage lookups. Supabase SQL enables RLS and revokes anon/authenticated table privileges; protected Worker service credentials access the tables. This does not remove administrator access. Cron executes configured retention daily; 0 disables it; audit rows remain. Cloud backup and restore was not independently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Worker deployed October 9 version 492b555c-88fd-4a1b-81b7-991233030340. health/storage returned ok HTTP 200. GitHub source backup dc2865d08a6efdbf6832c53d8bedc4512040bb7e on webhooks. Public source repo excludes credentials, employee databases, operational backups/logs, and binary artifacts pending approval. SQLite and Mac daily backup scripts are legacy/local options; do not describe them as verified Supabase backups.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suite executed on October 9 with 31 passing tests; local validator accepted 81 synthetic Block Kit payloads. Not Slack public remote validation during this repair. Tests use real Bolt routing and SQLite with substituted external WebClient responses; they do not demonstrate distributed Supabase race safety. Live checks were read-only and did not alter stored checks/reviews. No new claim of notification/export delivery is made by this repair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outstanding acceptance and operations checks, not claims that the current pilot is broken. Existing automated cases do not establish live two-user behavior or distributed database concurrency. Daily scheduled retention is not a data backup. Do not claim enterprise readiness, SLA, verified cloud restore, AI assistance, scheduled reminder messages, or a quantified risk-reduction result without new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498080" cy="457200"/>
          </a:xfrm>
          <a:prstGeom prst="rect">
            <a:avLst/>
          </a:prstGeom>
          <a:noFill/>
          <a:ln/>
        </p:spPr>
        <p:txBody>
          <a:bodyPr wrap="square" lIns="0" tIns="0" rIns="0" bIns="0" rtlCol="0" anchor="t"/>
          <a:lstStyle/>
          <a:p>
            <a:pPr indent="0" marL="0">
              <a:buNone/>
            </a:pPr>
            <a:r>
              <a:rPr lang="en-US" sz="3000" b="1" dirty="0">
                <a:solidFill>
                  <a:srgbClr val="242038"/>
                </a:solidFill>
                <a:latin typeface="Arial" pitchFamily="34" charset="0"/>
                <a:ea typeface="Arial" pitchFamily="34" charset="-122"/>
                <a:cs typeface="Arial" pitchFamily="34" charset="-120"/>
              </a:rPr>
              <a:t>PEOPLE ACTION CHECK</a:t>
            </a:r>
            <a:endParaRPr lang="en-US" sz="3000" dirty="0"/>
          </a:p>
        </p:txBody>
      </p:sp>
      <p:sp>
        <p:nvSpPr>
          <p:cNvPr id="3" name="Text 1"/>
          <p:cNvSpPr/>
          <p:nvPr/>
        </p:nvSpPr>
        <p:spPr>
          <a:xfrm>
            <a:off x="566928" y="914400"/>
            <a:ext cx="10789920" cy="320040"/>
          </a:xfrm>
          <a:prstGeom prst="rect">
            <a:avLst/>
          </a:prstGeom>
          <a:noFill/>
          <a:ln/>
        </p:spPr>
        <p:txBody>
          <a:bodyPr wrap="square" lIns="0" tIns="0" rIns="0" bIns="0" rtlCol="0" anchor="t"/>
          <a:lstStyle/>
          <a:p>
            <a:pPr indent="0" marL="0">
              <a:buNone/>
            </a:pPr>
            <a:r>
              <a:rPr lang="en-US" sz="1600" dirty="0">
                <a:solidFill>
                  <a:srgbClr val="5E6070"/>
                </a:solidFill>
                <a:latin typeface="Arial" pitchFamily="34" charset="0"/>
                <a:ea typeface="Arial" pitchFamily="34" charset="-122"/>
                <a:cs typeface="Arial" pitchFamily="34" charset="-120"/>
              </a:rPr>
              <a:t>Private Slack guidance for documented people-management actions</a:t>
            </a:r>
            <a:endParaRPr lang="en-US" sz="1600" dirty="0"/>
          </a:p>
        </p:txBody>
      </p:sp>
      <p:sp>
        <p:nvSpPr>
          <p:cNvPr id="4" name="Shape 2"/>
          <p:cNvSpPr/>
          <p:nvPr/>
        </p:nvSpPr>
        <p:spPr>
          <a:xfrm>
            <a:off x="8759952" y="384048"/>
            <a:ext cx="2852928" cy="438912"/>
          </a:xfrm>
          <a:prstGeom prst="roundRect">
            <a:avLst>
              <a:gd name="adj" fmla="val 25000"/>
            </a:avLst>
          </a:prstGeom>
          <a:solidFill>
            <a:srgbClr val="E5F4EF"/>
          </a:solidFill>
          <a:ln w="12700">
            <a:solidFill>
              <a:srgbClr val="E5F4EF">
                <a:alpha val="0"/>
              </a:srgbClr>
            </a:solidFill>
            <a:prstDash val="solid"/>
          </a:ln>
        </p:spPr>
      </p:sp>
      <p:sp>
        <p:nvSpPr>
          <p:cNvPr id="5" name="Text 3"/>
          <p:cNvSpPr/>
          <p:nvPr/>
        </p:nvSpPr>
        <p:spPr>
          <a:xfrm>
            <a:off x="8915400" y="512064"/>
            <a:ext cx="2532888" cy="164592"/>
          </a:xfrm>
          <a:prstGeom prst="rect">
            <a:avLst/>
          </a:prstGeom>
          <a:noFill/>
          <a:ln/>
        </p:spPr>
        <p:txBody>
          <a:bodyPr wrap="square" lIns="0" tIns="0" rIns="0" bIns="0" rtlCol="0" anchor="t"/>
          <a:lstStyle/>
          <a:p>
            <a:pPr indent="0" marL="0">
              <a:buNone/>
            </a:pPr>
            <a:r>
              <a:rPr lang="en-US" sz="1060" b="1" dirty="0">
                <a:solidFill>
                  <a:srgbClr val="087D73"/>
                </a:solidFill>
                <a:latin typeface="Arial" pitchFamily="34" charset="0"/>
                <a:ea typeface="Arial" pitchFamily="34" charset="-122"/>
                <a:cs typeface="Arial" pitchFamily="34" charset="-120"/>
              </a:rPr>
              <a:t>CLOUD CONNECTION VERIFIED</a:t>
            </a:r>
            <a:endParaRPr lang="en-US" sz="1060" dirty="0"/>
          </a:p>
        </p:txBody>
      </p:sp>
      <p:sp>
        <p:nvSpPr>
          <p:cNvPr id="6" name="Text 4"/>
          <p:cNvSpPr/>
          <p:nvPr/>
        </p:nvSpPr>
        <p:spPr>
          <a:xfrm>
            <a:off x="566928" y="1463040"/>
            <a:ext cx="10881360" cy="274320"/>
          </a:xfrm>
          <a:prstGeom prst="rect">
            <a:avLst/>
          </a:prstGeom>
          <a:noFill/>
          <a:ln/>
        </p:spPr>
        <p:txBody>
          <a:bodyPr wrap="square" lIns="0" tIns="0" rIns="0" bIns="0" rtlCol="0" anchor="t"/>
          <a:lstStyle/>
          <a:p>
            <a:pPr indent="0" marL="0">
              <a:buNone/>
            </a:pPr>
            <a:r>
              <a:rPr lang="en-US" sz="1800" b="1" dirty="0">
                <a:solidFill>
                  <a:srgbClr val="242038"/>
                </a:solidFill>
                <a:latin typeface="Arial" pitchFamily="34" charset="0"/>
                <a:ea typeface="Arial" pitchFamily="34" charset="-122"/>
                <a:cs typeface="Arial" pitchFamily="34" charset="-120"/>
              </a:rPr>
              <a:t>HOW A CHECK MOVES</a:t>
            </a:r>
            <a:endParaRPr lang="en-US" sz="1800" dirty="0"/>
          </a:p>
        </p:txBody>
      </p:sp>
      <p:sp>
        <p:nvSpPr>
          <p:cNvPr id="7" name="Shape 5"/>
          <p:cNvSpPr/>
          <p:nvPr/>
        </p:nvSpPr>
        <p:spPr>
          <a:xfrm>
            <a:off x="566928" y="1847088"/>
            <a:ext cx="2496312" cy="1508760"/>
          </a:xfrm>
          <a:prstGeom prst="roundRect">
            <a:avLst>
              <a:gd name="adj" fmla="val 7273"/>
            </a:avLst>
          </a:prstGeom>
          <a:solidFill>
            <a:srgbClr val="EEEAF8"/>
          </a:solidFill>
          <a:ln w="12700">
            <a:solidFill>
              <a:srgbClr val="EEEAF8">
                <a:alpha val="0"/>
              </a:srgbClr>
            </a:solidFill>
            <a:prstDash val="solid"/>
          </a:ln>
        </p:spPr>
      </p:sp>
      <p:sp>
        <p:nvSpPr>
          <p:cNvPr id="8" name="Shape 6"/>
          <p:cNvSpPr/>
          <p:nvPr/>
        </p:nvSpPr>
        <p:spPr>
          <a:xfrm>
            <a:off x="740664" y="2039112"/>
            <a:ext cx="365760" cy="365760"/>
          </a:xfrm>
          <a:prstGeom prst="ellipse">
            <a:avLst/>
          </a:prstGeom>
          <a:solidFill>
            <a:srgbClr val="634AA2"/>
          </a:solidFill>
          <a:ln w="12700">
            <a:solidFill>
              <a:srgbClr val="634AA2">
                <a:alpha val="0"/>
              </a:srgbClr>
            </a:solidFill>
            <a:prstDash val="solid"/>
          </a:ln>
        </p:spPr>
      </p:sp>
      <p:sp>
        <p:nvSpPr>
          <p:cNvPr id="9" name="Text 7"/>
          <p:cNvSpPr/>
          <p:nvPr/>
        </p:nvSpPr>
        <p:spPr>
          <a:xfrm>
            <a:off x="740664" y="2112264"/>
            <a:ext cx="365760" cy="1828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0" name="Text 8"/>
          <p:cNvSpPr/>
          <p:nvPr/>
        </p:nvSpPr>
        <p:spPr>
          <a:xfrm>
            <a:off x="1207008" y="2048256"/>
            <a:ext cx="1691640" cy="320040"/>
          </a:xfrm>
          <a:prstGeom prst="rect">
            <a:avLst/>
          </a:prstGeom>
          <a:noFill/>
          <a:ln/>
        </p:spPr>
        <p:txBody>
          <a:bodyPr wrap="square" lIns="0" tIns="0" rIns="0" bIns="0" rtlCol="0" anchor="t"/>
          <a:lstStyle/>
          <a:p>
            <a:pPr indent="0" marL="0">
              <a:buNone/>
            </a:pPr>
            <a:r>
              <a:rPr lang="en-US" sz="1700" b="1" dirty="0">
                <a:solidFill>
                  <a:srgbClr val="242038"/>
                </a:solidFill>
                <a:latin typeface="Arial" pitchFamily="34" charset="0"/>
                <a:ea typeface="Arial" pitchFamily="34" charset="-122"/>
                <a:cs typeface="Arial" pitchFamily="34" charset="-120"/>
              </a:rPr>
              <a:t>Choose</a:t>
            </a:r>
            <a:endParaRPr lang="en-US" sz="1700" dirty="0"/>
          </a:p>
        </p:txBody>
      </p:sp>
      <p:sp>
        <p:nvSpPr>
          <p:cNvPr id="11" name="Text 9"/>
          <p:cNvSpPr/>
          <p:nvPr/>
        </p:nvSpPr>
        <p:spPr>
          <a:xfrm>
            <a:off x="749808" y="2615184"/>
            <a:ext cx="2130552" cy="566928"/>
          </a:xfrm>
          <a:prstGeom prst="rect">
            <a:avLst/>
          </a:prstGeom>
          <a:noFill/>
          <a:ln/>
        </p:spPr>
        <p:txBody>
          <a:bodyPr wrap="square" lIns="0" tIns="0" rIns="0" bIns="0" rtlCol="0" anchor="t"/>
          <a:lstStyle/>
          <a:p>
            <a:pPr indent="0" marL="0">
              <a:buNone/>
            </a:pPr>
            <a:r>
              <a:rPr lang="en-US" sz="1350" dirty="0">
                <a:solidFill>
                  <a:srgbClr val="242038"/>
                </a:solidFill>
                <a:latin typeface="Arial" pitchFamily="34" charset="0"/>
                <a:ea typeface="Arial" pitchFamily="34" charset="-122"/>
                <a:cs typeface="Arial" pitchFamily="34" charset="-120"/>
              </a:rPr>
              <a:t>Select from 10 situations and read the relevant guidance.</a:t>
            </a:r>
            <a:endParaRPr lang="en-US" sz="1350" dirty="0"/>
          </a:p>
        </p:txBody>
      </p:sp>
      <p:sp>
        <p:nvSpPr>
          <p:cNvPr id="12" name="Shape 10"/>
          <p:cNvSpPr/>
          <p:nvPr/>
        </p:nvSpPr>
        <p:spPr>
          <a:xfrm>
            <a:off x="3419856" y="1847088"/>
            <a:ext cx="2496312" cy="1508760"/>
          </a:xfrm>
          <a:prstGeom prst="roundRect">
            <a:avLst>
              <a:gd name="adj" fmla="val 7273"/>
            </a:avLst>
          </a:prstGeom>
          <a:solidFill>
            <a:srgbClr val="E5F4EF"/>
          </a:solidFill>
          <a:ln w="12700">
            <a:solidFill>
              <a:srgbClr val="E5F4EF">
                <a:alpha val="0"/>
              </a:srgbClr>
            </a:solidFill>
            <a:prstDash val="solid"/>
          </a:ln>
        </p:spPr>
      </p:sp>
      <p:sp>
        <p:nvSpPr>
          <p:cNvPr id="13" name="Shape 11"/>
          <p:cNvSpPr/>
          <p:nvPr/>
        </p:nvSpPr>
        <p:spPr>
          <a:xfrm>
            <a:off x="3593592" y="2039112"/>
            <a:ext cx="365760" cy="365760"/>
          </a:xfrm>
          <a:prstGeom prst="ellipse">
            <a:avLst/>
          </a:prstGeom>
          <a:solidFill>
            <a:srgbClr val="634AA2"/>
          </a:solidFill>
          <a:ln w="12700">
            <a:solidFill>
              <a:srgbClr val="634AA2">
                <a:alpha val="0"/>
              </a:srgbClr>
            </a:solidFill>
            <a:prstDash val="solid"/>
          </a:ln>
        </p:spPr>
      </p:sp>
      <p:sp>
        <p:nvSpPr>
          <p:cNvPr id="14" name="Text 12"/>
          <p:cNvSpPr/>
          <p:nvPr/>
        </p:nvSpPr>
        <p:spPr>
          <a:xfrm>
            <a:off x="3593592" y="2112264"/>
            <a:ext cx="365760" cy="1828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5" name="Text 13"/>
          <p:cNvSpPr/>
          <p:nvPr/>
        </p:nvSpPr>
        <p:spPr>
          <a:xfrm>
            <a:off x="4059936" y="2048256"/>
            <a:ext cx="1691640" cy="320040"/>
          </a:xfrm>
          <a:prstGeom prst="rect">
            <a:avLst/>
          </a:prstGeom>
          <a:noFill/>
          <a:ln/>
        </p:spPr>
        <p:txBody>
          <a:bodyPr wrap="square" lIns="0" tIns="0" rIns="0" bIns="0" rtlCol="0" anchor="t"/>
          <a:lstStyle/>
          <a:p>
            <a:pPr indent="0" marL="0">
              <a:buNone/>
            </a:pPr>
            <a:r>
              <a:rPr lang="en-US" sz="1700" b="1" dirty="0">
                <a:solidFill>
                  <a:srgbClr val="242038"/>
                </a:solidFill>
                <a:latin typeface="Arial" pitchFamily="34" charset="0"/>
                <a:ea typeface="Arial" pitchFamily="34" charset="-122"/>
                <a:cs typeface="Arial" pitchFamily="34" charset="-120"/>
              </a:rPr>
              <a:t>Assess</a:t>
            </a:r>
            <a:endParaRPr lang="en-US" sz="1700" dirty="0"/>
          </a:p>
        </p:txBody>
      </p:sp>
      <p:sp>
        <p:nvSpPr>
          <p:cNvPr id="16" name="Text 14"/>
          <p:cNvSpPr/>
          <p:nvPr/>
        </p:nvSpPr>
        <p:spPr>
          <a:xfrm>
            <a:off x="3602736" y="2615184"/>
            <a:ext cx="2130552" cy="566928"/>
          </a:xfrm>
          <a:prstGeom prst="rect">
            <a:avLst/>
          </a:prstGeom>
          <a:noFill/>
          <a:ln/>
        </p:spPr>
        <p:txBody>
          <a:bodyPr wrap="square" lIns="0" tIns="0" rIns="0" bIns="0" rtlCol="0" anchor="t"/>
          <a:lstStyle/>
          <a:p>
            <a:pPr indent="0" marL="0">
              <a:buNone/>
            </a:pPr>
            <a:r>
              <a:rPr lang="en-US" sz="1350" dirty="0">
                <a:solidFill>
                  <a:srgbClr val="242038"/>
                </a:solidFill>
                <a:latin typeface="Arial" pitchFamily="34" charset="0"/>
                <a:ea typeface="Arial" pitchFamily="34" charset="-122"/>
                <a:cs typeface="Arial" pitchFamily="34" charset="-120"/>
              </a:rPr>
              <a:t>Answer five questions per situation; add notes and evidence.</a:t>
            </a:r>
            <a:endParaRPr lang="en-US" sz="1350" dirty="0"/>
          </a:p>
        </p:txBody>
      </p:sp>
      <p:sp>
        <p:nvSpPr>
          <p:cNvPr id="17" name="Shape 15"/>
          <p:cNvSpPr/>
          <p:nvPr/>
        </p:nvSpPr>
        <p:spPr>
          <a:xfrm>
            <a:off x="6272784" y="1847088"/>
            <a:ext cx="2496312" cy="1508760"/>
          </a:xfrm>
          <a:prstGeom prst="roundRect">
            <a:avLst>
              <a:gd name="adj" fmla="val 7273"/>
            </a:avLst>
          </a:prstGeom>
          <a:solidFill>
            <a:srgbClr val="EEEAF8"/>
          </a:solidFill>
          <a:ln w="12700">
            <a:solidFill>
              <a:srgbClr val="EEEAF8">
                <a:alpha val="0"/>
              </a:srgbClr>
            </a:solidFill>
            <a:prstDash val="solid"/>
          </a:ln>
        </p:spPr>
      </p:sp>
      <p:sp>
        <p:nvSpPr>
          <p:cNvPr id="18" name="Shape 16"/>
          <p:cNvSpPr/>
          <p:nvPr/>
        </p:nvSpPr>
        <p:spPr>
          <a:xfrm>
            <a:off x="6446520" y="2039112"/>
            <a:ext cx="365760" cy="365760"/>
          </a:xfrm>
          <a:prstGeom prst="ellipse">
            <a:avLst/>
          </a:prstGeom>
          <a:solidFill>
            <a:srgbClr val="634AA2"/>
          </a:solidFill>
          <a:ln w="12700">
            <a:solidFill>
              <a:srgbClr val="634AA2">
                <a:alpha val="0"/>
              </a:srgbClr>
            </a:solidFill>
            <a:prstDash val="solid"/>
          </a:ln>
        </p:spPr>
      </p:sp>
      <p:sp>
        <p:nvSpPr>
          <p:cNvPr id="19" name="Text 17"/>
          <p:cNvSpPr/>
          <p:nvPr/>
        </p:nvSpPr>
        <p:spPr>
          <a:xfrm>
            <a:off x="6446520" y="2112264"/>
            <a:ext cx="365760" cy="1828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0" name="Text 18"/>
          <p:cNvSpPr/>
          <p:nvPr/>
        </p:nvSpPr>
        <p:spPr>
          <a:xfrm>
            <a:off x="6912864" y="2048256"/>
            <a:ext cx="1691640" cy="320040"/>
          </a:xfrm>
          <a:prstGeom prst="rect">
            <a:avLst/>
          </a:prstGeom>
          <a:noFill/>
          <a:ln/>
        </p:spPr>
        <p:txBody>
          <a:bodyPr wrap="square" lIns="0" tIns="0" rIns="0" bIns="0" rtlCol="0" anchor="t"/>
          <a:lstStyle/>
          <a:p>
            <a:pPr indent="0" marL="0">
              <a:buNone/>
            </a:pPr>
            <a:r>
              <a:rPr lang="en-US" sz="1700" b="1" dirty="0">
                <a:solidFill>
                  <a:srgbClr val="242038"/>
                </a:solidFill>
                <a:latin typeface="Arial" pitchFamily="34" charset="0"/>
                <a:ea typeface="Arial" pitchFamily="34" charset="-122"/>
                <a:cs typeface="Arial" pitchFamily="34" charset="-120"/>
              </a:rPr>
              <a:t>Review</a:t>
            </a:r>
            <a:endParaRPr lang="en-US" sz="1700" dirty="0"/>
          </a:p>
        </p:txBody>
      </p:sp>
      <p:sp>
        <p:nvSpPr>
          <p:cNvPr id="21" name="Text 19"/>
          <p:cNvSpPr/>
          <p:nvPr/>
        </p:nvSpPr>
        <p:spPr>
          <a:xfrm>
            <a:off x="6455664" y="2615184"/>
            <a:ext cx="2130552" cy="566928"/>
          </a:xfrm>
          <a:prstGeom prst="rect">
            <a:avLst/>
          </a:prstGeom>
          <a:noFill/>
          <a:ln/>
        </p:spPr>
        <p:txBody>
          <a:bodyPr wrap="square" lIns="0" tIns="0" rIns="0" bIns="0" rtlCol="0" anchor="t"/>
          <a:lstStyle/>
          <a:p>
            <a:pPr indent="0" marL="0">
              <a:buNone/>
            </a:pPr>
            <a:r>
              <a:rPr lang="en-US" sz="1350" dirty="0">
                <a:solidFill>
                  <a:srgbClr val="242038"/>
                </a:solidFill>
                <a:latin typeface="Arial" pitchFamily="34" charset="0"/>
                <a:ea typeface="Arial" pitchFamily="34" charset="-122"/>
                <a:cs typeface="Arial" pitchFamily="34" charset="-120"/>
              </a:rPr>
              <a:t>See Low, Medium or High risk and suggested next steps.</a:t>
            </a:r>
            <a:endParaRPr lang="en-US" sz="1350" dirty="0"/>
          </a:p>
        </p:txBody>
      </p:sp>
      <p:sp>
        <p:nvSpPr>
          <p:cNvPr id="22" name="Shape 20"/>
          <p:cNvSpPr/>
          <p:nvPr/>
        </p:nvSpPr>
        <p:spPr>
          <a:xfrm>
            <a:off x="9125712" y="1847088"/>
            <a:ext cx="2496312" cy="1508760"/>
          </a:xfrm>
          <a:prstGeom prst="roundRect">
            <a:avLst>
              <a:gd name="adj" fmla="val 7273"/>
            </a:avLst>
          </a:prstGeom>
          <a:solidFill>
            <a:srgbClr val="E5F4EF"/>
          </a:solidFill>
          <a:ln w="12700">
            <a:solidFill>
              <a:srgbClr val="E5F4EF">
                <a:alpha val="0"/>
              </a:srgbClr>
            </a:solidFill>
            <a:prstDash val="solid"/>
          </a:ln>
        </p:spPr>
      </p:sp>
      <p:sp>
        <p:nvSpPr>
          <p:cNvPr id="23" name="Shape 21"/>
          <p:cNvSpPr/>
          <p:nvPr/>
        </p:nvSpPr>
        <p:spPr>
          <a:xfrm>
            <a:off x="9299448" y="2039112"/>
            <a:ext cx="365760" cy="365760"/>
          </a:xfrm>
          <a:prstGeom prst="ellipse">
            <a:avLst/>
          </a:prstGeom>
          <a:solidFill>
            <a:srgbClr val="634AA2"/>
          </a:solidFill>
          <a:ln w="12700">
            <a:solidFill>
              <a:srgbClr val="634AA2">
                <a:alpha val="0"/>
              </a:srgbClr>
            </a:solidFill>
            <a:prstDash val="solid"/>
          </a:ln>
        </p:spPr>
      </p:sp>
      <p:sp>
        <p:nvSpPr>
          <p:cNvPr id="24" name="Text 22"/>
          <p:cNvSpPr/>
          <p:nvPr/>
        </p:nvSpPr>
        <p:spPr>
          <a:xfrm>
            <a:off x="9299448" y="2112264"/>
            <a:ext cx="365760" cy="1828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5" name="Text 23"/>
          <p:cNvSpPr/>
          <p:nvPr/>
        </p:nvSpPr>
        <p:spPr>
          <a:xfrm>
            <a:off x="9765792" y="2048256"/>
            <a:ext cx="1691640" cy="320040"/>
          </a:xfrm>
          <a:prstGeom prst="rect">
            <a:avLst/>
          </a:prstGeom>
          <a:noFill/>
          <a:ln/>
        </p:spPr>
        <p:txBody>
          <a:bodyPr wrap="square" lIns="0" tIns="0" rIns="0" bIns="0" rtlCol="0" anchor="t"/>
          <a:lstStyle/>
          <a:p>
            <a:pPr indent="0" marL="0">
              <a:buNone/>
            </a:pPr>
            <a:r>
              <a:rPr lang="en-US" sz="1700" b="1" dirty="0">
                <a:solidFill>
                  <a:srgbClr val="242038"/>
                </a:solidFill>
                <a:latin typeface="Arial" pitchFamily="34" charset="0"/>
                <a:ea typeface="Arial" pitchFamily="34" charset="-122"/>
                <a:cs typeface="Arial" pitchFamily="34" charset="-120"/>
              </a:rPr>
              <a:t>Submit to HR</a:t>
            </a:r>
            <a:endParaRPr lang="en-US" sz="1700" dirty="0"/>
          </a:p>
        </p:txBody>
      </p:sp>
      <p:sp>
        <p:nvSpPr>
          <p:cNvPr id="26" name="Text 24"/>
          <p:cNvSpPr/>
          <p:nvPr/>
        </p:nvSpPr>
        <p:spPr>
          <a:xfrm>
            <a:off x="9308592" y="2615184"/>
            <a:ext cx="2130552" cy="566928"/>
          </a:xfrm>
          <a:prstGeom prst="rect">
            <a:avLst/>
          </a:prstGeom>
          <a:noFill/>
          <a:ln/>
        </p:spPr>
        <p:txBody>
          <a:bodyPr wrap="square" lIns="0" tIns="0" rIns="0" bIns="0" rtlCol="0" anchor="t"/>
          <a:lstStyle/>
          <a:p>
            <a:pPr indent="0" marL="0">
              <a:buNone/>
            </a:pPr>
            <a:r>
              <a:rPr lang="en-US" sz="1350" dirty="0">
                <a:solidFill>
                  <a:srgbClr val="242038"/>
                </a:solidFill>
                <a:latin typeface="Arial" pitchFamily="34" charset="0"/>
                <a:ea typeface="Arial" pitchFamily="34" charset="-122"/>
                <a:cs typeface="Arial" pitchFamily="34" charset="-120"/>
              </a:rPr>
              <a:t>Share the case for HR review, documentation and reporting.</a:t>
            </a:r>
            <a:endParaRPr lang="en-US" sz="1350" dirty="0"/>
          </a:p>
        </p:txBody>
      </p:sp>
      <p:sp>
        <p:nvSpPr>
          <p:cNvPr id="27" name="Shape 25"/>
          <p:cNvSpPr/>
          <p:nvPr/>
        </p:nvSpPr>
        <p:spPr>
          <a:xfrm>
            <a:off x="566928" y="3621024"/>
            <a:ext cx="5532120" cy="2176272"/>
          </a:xfrm>
          <a:prstGeom prst="roundRect">
            <a:avLst>
              <a:gd name="adj" fmla="val 5042"/>
            </a:avLst>
          </a:prstGeom>
          <a:solidFill>
            <a:srgbClr val="EEEAF8"/>
          </a:solidFill>
          <a:ln w="12700">
            <a:solidFill>
              <a:srgbClr val="EEEAF8">
                <a:alpha val="0"/>
              </a:srgbClr>
            </a:solidFill>
            <a:prstDash val="solid"/>
          </a:ln>
        </p:spPr>
      </p:sp>
      <p:sp>
        <p:nvSpPr>
          <p:cNvPr id="28" name="Text 26"/>
          <p:cNvSpPr/>
          <p:nvPr/>
        </p:nvSpPr>
        <p:spPr>
          <a:xfrm>
            <a:off x="804672" y="3867912"/>
            <a:ext cx="5047488" cy="320040"/>
          </a:xfrm>
          <a:prstGeom prst="rect">
            <a:avLst/>
          </a:prstGeom>
          <a:noFill/>
          <a:ln/>
        </p:spPr>
        <p:txBody>
          <a:bodyPr wrap="square" lIns="0" tIns="0" rIns="0" bIns="0" rtlCol="0" anchor="t"/>
          <a:lstStyle/>
          <a:p>
            <a:pPr indent="0" marL="0">
              <a:buNone/>
            </a:pPr>
            <a:r>
              <a:rPr lang="en-US" sz="1800" b="1" dirty="0">
                <a:solidFill>
                  <a:srgbClr val="242038"/>
                </a:solidFill>
                <a:latin typeface="Arial" pitchFamily="34" charset="0"/>
                <a:ea typeface="Arial" pitchFamily="34" charset="-122"/>
                <a:cs typeface="Arial" pitchFamily="34" charset="-120"/>
              </a:rPr>
              <a:t>WHAT MANAGERS &amp; HR CAN DO</a:t>
            </a:r>
            <a:endParaRPr lang="en-US" sz="1800" dirty="0"/>
          </a:p>
        </p:txBody>
      </p:sp>
      <p:sp>
        <p:nvSpPr>
          <p:cNvPr id="29" name="Text 27"/>
          <p:cNvSpPr/>
          <p:nvPr/>
        </p:nvSpPr>
        <p:spPr>
          <a:xfrm>
            <a:off x="804672" y="4370832"/>
            <a:ext cx="5029200" cy="521208"/>
          </a:xfrm>
          <a:prstGeom prst="rect">
            <a:avLst/>
          </a:prstGeom>
          <a:noFill/>
          <a:ln/>
        </p:spPr>
        <p:txBody>
          <a:bodyPr wrap="square" lIns="0" tIns="0" rIns="0" bIns="0" rtlCol="0" anchor="t"/>
          <a:lstStyle/>
          <a:p>
            <a:pPr indent="0" marL="0">
              <a:buNone/>
            </a:pPr>
            <a:r>
              <a:rPr lang="en-US" sz="1500" dirty="0">
                <a:solidFill>
                  <a:srgbClr val="242038"/>
                </a:solidFill>
                <a:latin typeface="Arial" pitchFamily="34" charset="0"/>
                <a:ea typeface="Arial" pitchFamily="34" charset="-122"/>
                <a:cs typeface="Arial" pitchFamily="34" charset="-120"/>
              </a:rPr>
              <a:t>Managers save and resume private checks, add documentation, request Word reports and submit to HR.</a:t>
            </a:r>
            <a:endParaRPr lang="en-US" sz="1500" dirty="0"/>
          </a:p>
        </p:txBody>
      </p:sp>
      <p:sp>
        <p:nvSpPr>
          <p:cNvPr id="30" name="Text 28"/>
          <p:cNvSpPr/>
          <p:nvPr/>
        </p:nvSpPr>
        <p:spPr>
          <a:xfrm>
            <a:off x="804672" y="5047488"/>
            <a:ext cx="5029200" cy="521208"/>
          </a:xfrm>
          <a:prstGeom prst="rect">
            <a:avLst/>
          </a:prstGeom>
          <a:noFill/>
          <a:ln/>
        </p:spPr>
        <p:txBody>
          <a:bodyPr wrap="square" lIns="0" tIns="0" rIns="0" bIns="0" rtlCol="0" anchor="t"/>
          <a:lstStyle/>
          <a:p>
            <a:pPr indent="0" marL="0">
              <a:buNone/>
            </a:pPr>
            <a:r>
              <a:rPr lang="en-US" sz="1500" dirty="0">
                <a:solidFill>
                  <a:srgbClr val="242038"/>
                </a:solidFill>
                <a:latin typeface="Arial" pitchFamily="34" charset="0"/>
                <a:ea typeface="Arial" pitchFamily="34" charset="-122"/>
                <a:cs typeface="Arial" pitchFamily="34" charset="-120"/>
              </a:rPr>
              <a:t>HR reviews full submitted cases, downloads reports, adds documents and uses the Governance Center.</a:t>
            </a:r>
            <a:endParaRPr lang="en-US" sz="1500" dirty="0"/>
          </a:p>
        </p:txBody>
      </p:sp>
      <p:sp>
        <p:nvSpPr>
          <p:cNvPr id="31" name="Shape 29"/>
          <p:cNvSpPr/>
          <p:nvPr/>
        </p:nvSpPr>
        <p:spPr>
          <a:xfrm>
            <a:off x="6318504" y="3621024"/>
            <a:ext cx="5312664" cy="2176272"/>
          </a:xfrm>
          <a:prstGeom prst="roundRect">
            <a:avLst>
              <a:gd name="adj" fmla="val 5042"/>
            </a:avLst>
          </a:prstGeom>
          <a:solidFill>
            <a:srgbClr val="E5F4EF"/>
          </a:solidFill>
          <a:ln w="12700">
            <a:solidFill>
              <a:srgbClr val="E5F4EF">
                <a:alpha val="0"/>
              </a:srgbClr>
            </a:solidFill>
            <a:prstDash val="solid"/>
          </a:ln>
        </p:spPr>
      </p:sp>
      <p:sp>
        <p:nvSpPr>
          <p:cNvPr id="32" name="Text 30"/>
          <p:cNvSpPr/>
          <p:nvPr/>
        </p:nvSpPr>
        <p:spPr>
          <a:xfrm>
            <a:off x="6556248" y="3867912"/>
            <a:ext cx="4837176" cy="320040"/>
          </a:xfrm>
          <a:prstGeom prst="rect">
            <a:avLst/>
          </a:prstGeom>
          <a:noFill/>
          <a:ln/>
        </p:spPr>
        <p:txBody>
          <a:bodyPr wrap="square" lIns="0" tIns="0" rIns="0" bIns="0" rtlCol="0" anchor="t"/>
          <a:lstStyle/>
          <a:p>
            <a:pPr indent="0" marL="0">
              <a:buNone/>
            </a:pPr>
            <a:r>
              <a:rPr lang="en-US" sz="1800" b="1" dirty="0">
                <a:solidFill>
                  <a:srgbClr val="242038"/>
                </a:solidFill>
                <a:latin typeface="Arial" pitchFamily="34" charset="0"/>
                <a:ea typeface="Arial" pitchFamily="34" charset="-122"/>
                <a:cs typeface="Arial" pitchFamily="34" charset="-120"/>
              </a:rPr>
              <a:t>HOW IT RUNS &amp; WHO GOVERNS</a:t>
            </a:r>
            <a:endParaRPr lang="en-US" sz="1800" dirty="0"/>
          </a:p>
        </p:txBody>
      </p:sp>
      <p:sp>
        <p:nvSpPr>
          <p:cNvPr id="33" name="Shape 31"/>
          <p:cNvSpPr/>
          <p:nvPr/>
        </p:nvSpPr>
        <p:spPr>
          <a:xfrm>
            <a:off x="6556248" y="4370832"/>
            <a:ext cx="1051560" cy="393192"/>
          </a:xfrm>
          <a:prstGeom prst="roundRect">
            <a:avLst>
              <a:gd name="adj" fmla="val 27907"/>
            </a:avLst>
          </a:prstGeom>
          <a:solidFill>
            <a:srgbClr val="FFFFFF"/>
          </a:solidFill>
          <a:ln w="12700">
            <a:solidFill>
              <a:srgbClr val="FFFFFF">
                <a:alpha val="0"/>
              </a:srgbClr>
            </a:solidFill>
            <a:prstDash val="solid"/>
          </a:ln>
        </p:spPr>
      </p:sp>
      <p:sp>
        <p:nvSpPr>
          <p:cNvPr id="34" name="Text 32"/>
          <p:cNvSpPr/>
          <p:nvPr/>
        </p:nvSpPr>
        <p:spPr>
          <a:xfrm>
            <a:off x="6556248" y="4480560"/>
            <a:ext cx="1051560" cy="164592"/>
          </a:xfrm>
          <a:prstGeom prst="rect">
            <a:avLst/>
          </a:prstGeom>
          <a:noFill/>
          <a:ln/>
        </p:spPr>
        <p:txBody>
          <a:bodyPr wrap="square" lIns="0" tIns="0" rIns="0" bIns="0" rtlCol="0" anchor="t"/>
          <a:lstStyle/>
          <a:p>
            <a:pPr indent="0" marL="0">
              <a:buNone/>
            </a:pPr>
            <a:r>
              <a:rPr lang="en-US" sz="1250" b="1" dirty="0">
                <a:solidFill>
                  <a:srgbClr val="087D73"/>
                </a:solidFill>
                <a:latin typeface="Arial" pitchFamily="34" charset="0"/>
                <a:ea typeface="Arial" pitchFamily="34" charset="-122"/>
                <a:cs typeface="Arial" pitchFamily="34" charset="-120"/>
              </a:rPr>
              <a:t>Slack</a:t>
            </a:r>
            <a:endParaRPr lang="en-US" sz="1250" dirty="0"/>
          </a:p>
        </p:txBody>
      </p:sp>
      <p:sp>
        <p:nvSpPr>
          <p:cNvPr id="35" name="Shape 33"/>
          <p:cNvSpPr/>
          <p:nvPr/>
        </p:nvSpPr>
        <p:spPr>
          <a:xfrm>
            <a:off x="8065008" y="4370832"/>
            <a:ext cx="1371600" cy="393192"/>
          </a:xfrm>
          <a:prstGeom prst="roundRect">
            <a:avLst>
              <a:gd name="adj" fmla="val 27907"/>
            </a:avLst>
          </a:prstGeom>
          <a:solidFill>
            <a:srgbClr val="FFFFFF"/>
          </a:solidFill>
          <a:ln w="12700">
            <a:solidFill>
              <a:srgbClr val="FFFFFF">
                <a:alpha val="0"/>
              </a:srgbClr>
            </a:solidFill>
            <a:prstDash val="solid"/>
          </a:ln>
        </p:spPr>
      </p:sp>
      <p:sp>
        <p:nvSpPr>
          <p:cNvPr id="36" name="Text 34"/>
          <p:cNvSpPr/>
          <p:nvPr/>
        </p:nvSpPr>
        <p:spPr>
          <a:xfrm>
            <a:off x="8065008" y="4480560"/>
            <a:ext cx="1371600" cy="164592"/>
          </a:xfrm>
          <a:prstGeom prst="rect">
            <a:avLst/>
          </a:prstGeom>
          <a:noFill/>
          <a:ln/>
        </p:spPr>
        <p:txBody>
          <a:bodyPr wrap="square" lIns="0" tIns="0" rIns="0" bIns="0" rtlCol="0" anchor="t"/>
          <a:lstStyle/>
          <a:p>
            <a:pPr indent="0" marL="0">
              <a:buNone/>
            </a:pPr>
            <a:r>
              <a:rPr lang="en-US" sz="1250" b="1" dirty="0">
                <a:solidFill>
                  <a:srgbClr val="087D73"/>
                </a:solidFill>
                <a:latin typeface="Arial" pitchFamily="34" charset="0"/>
                <a:ea typeface="Arial" pitchFamily="34" charset="-122"/>
                <a:cs typeface="Arial" pitchFamily="34" charset="-120"/>
              </a:rPr>
              <a:t>Cloudflare</a:t>
            </a:r>
            <a:endParaRPr lang="en-US" sz="1250" dirty="0"/>
          </a:p>
        </p:txBody>
      </p:sp>
      <p:sp>
        <p:nvSpPr>
          <p:cNvPr id="37" name="Shape 35"/>
          <p:cNvSpPr/>
          <p:nvPr/>
        </p:nvSpPr>
        <p:spPr>
          <a:xfrm>
            <a:off x="9893808" y="4370832"/>
            <a:ext cx="1444752" cy="393192"/>
          </a:xfrm>
          <a:prstGeom prst="roundRect">
            <a:avLst>
              <a:gd name="adj" fmla="val 27907"/>
            </a:avLst>
          </a:prstGeom>
          <a:solidFill>
            <a:srgbClr val="FFFFFF"/>
          </a:solidFill>
          <a:ln w="12700">
            <a:solidFill>
              <a:srgbClr val="FFFFFF">
                <a:alpha val="0"/>
              </a:srgbClr>
            </a:solidFill>
            <a:prstDash val="solid"/>
          </a:ln>
        </p:spPr>
      </p:sp>
      <p:sp>
        <p:nvSpPr>
          <p:cNvPr id="38" name="Text 36"/>
          <p:cNvSpPr/>
          <p:nvPr/>
        </p:nvSpPr>
        <p:spPr>
          <a:xfrm>
            <a:off x="9893808" y="4480560"/>
            <a:ext cx="1444752" cy="164592"/>
          </a:xfrm>
          <a:prstGeom prst="rect">
            <a:avLst/>
          </a:prstGeom>
          <a:noFill/>
          <a:ln/>
        </p:spPr>
        <p:txBody>
          <a:bodyPr wrap="square" lIns="0" tIns="0" rIns="0" bIns="0" rtlCol="0" anchor="t"/>
          <a:lstStyle/>
          <a:p>
            <a:pPr indent="0" marL="0">
              <a:buNone/>
            </a:pPr>
            <a:r>
              <a:rPr lang="en-US" sz="1250" b="1" dirty="0">
                <a:solidFill>
                  <a:srgbClr val="087D73"/>
                </a:solidFill>
                <a:latin typeface="Arial" pitchFamily="34" charset="0"/>
                <a:ea typeface="Arial" pitchFamily="34" charset="-122"/>
                <a:cs typeface="Arial" pitchFamily="34" charset="-120"/>
              </a:rPr>
              <a:t>Supabase</a:t>
            </a:r>
            <a:endParaRPr lang="en-US" sz="1250" dirty="0"/>
          </a:p>
        </p:txBody>
      </p:sp>
      <p:sp>
        <p:nvSpPr>
          <p:cNvPr id="39" name="Text 37"/>
          <p:cNvSpPr/>
          <p:nvPr/>
        </p:nvSpPr>
        <p:spPr>
          <a:xfrm>
            <a:off x="7744968" y="4443984"/>
            <a:ext cx="228600" cy="228600"/>
          </a:xfrm>
          <a:prstGeom prst="rect">
            <a:avLst/>
          </a:prstGeom>
          <a:noFill/>
          <a:ln/>
        </p:spPr>
        <p:txBody>
          <a:bodyPr wrap="square" lIns="0" tIns="0" rIns="0" bIns="0" rtlCol="0" anchor="t"/>
          <a:lstStyle/>
          <a:p>
            <a:pPr indent="0" marL="0">
              <a:buNone/>
            </a:pPr>
            <a:r>
              <a:rPr lang="en-US" sz="1800" dirty="0">
                <a:solidFill>
                  <a:srgbClr val="087D73"/>
                </a:solidFill>
                <a:latin typeface="Arial" pitchFamily="34" charset="0"/>
                <a:ea typeface="Arial" pitchFamily="34" charset="-122"/>
                <a:cs typeface="Arial" pitchFamily="34" charset="-120"/>
              </a:rPr>
              <a:t>→</a:t>
            </a:r>
            <a:endParaRPr lang="en-US" sz="1800" dirty="0"/>
          </a:p>
        </p:txBody>
      </p:sp>
      <p:sp>
        <p:nvSpPr>
          <p:cNvPr id="40" name="Text 38"/>
          <p:cNvSpPr/>
          <p:nvPr/>
        </p:nvSpPr>
        <p:spPr>
          <a:xfrm>
            <a:off x="9564624" y="4443984"/>
            <a:ext cx="228600" cy="228600"/>
          </a:xfrm>
          <a:prstGeom prst="rect">
            <a:avLst/>
          </a:prstGeom>
          <a:noFill/>
          <a:ln/>
        </p:spPr>
        <p:txBody>
          <a:bodyPr wrap="square" lIns="0" tIns="0" rIns="0" bIns="0" rtlCol="0" anchor="t"/>
          <a:lstStyle/>
          <a:p>
            <a:pPr indent="0" marL="0">
              <a:buNone/>
            </a:pPr>
            <a:r>
              <a:rPr lang="en-US" sz="1800" dirty="0">
                <a:solidFill>
                  <a:srgbClr val="087D73"/>
                </a:solidFill>
                <a:latin typeface="Arial" pitchFamily="34" charset="0"/>
                <a:ea typeface="Arial" pitchFamily="34" charset="-122"/>
                <a:cs typeface="Arial" pitchFamily="34" charset="-120"/>
              </a:rPr>
              <a:t>→</a:t>
            </a:r>
            <a:endParaRPr lang="en-US" sz="1800" dirty="0"/>
          </a:p>
        </p:txBody>
      </p:sp>
      <p:sp>
        <p:nvSpPr>
          <p:cNvPr id="41" name="Text 39"/>
          <p:cNvSpPr/>
          <p:nvPr/>
        </p:nvSpPr>
        <p:spPr>
          <a:xfrm>
            <a:off x="6556248" y="4965192"/>
            <a:ext cx="4773168" cy="475488"/>
          </a:xfrm>
          <a:prstGeom prst="rect">
            <a:avLst/>
          </a:prstGeom>
          <a:noFill/>
          <a:ln/>
        </p:spPr>
        <p:txBody>
          <a:bodyPr wrap="square" lIns="0" tIns="0" rIns="0" bIns="0" rtlCol="0" anchor="t"/>
          <a:lstStyle/>
          <a:p>
            <a:pPr indent="0" marL="0">
              <a:buNone/>
            </a:pPr>
            <a:r>
              <a:rPr lang="en-US" sz="1410" dirty="0">
                <a:solidFill>
                  <a:srgbClr val="242038"/>
                </a:solidFill>
                <a:latin typeface="Arial" pitchFamily="34" charset="0"/>
                <a:ea typeface="Arial" pitchFamily="34" charset="-122"/>
                <a:cs typeface="Arial" pitchFamily="34" charset="-120"/>
              </a:rPr>
              <a:t>Cloudflare hosts the app; Supabase stores records. Slack stores messages and uploaded files.</a:t>
            </a:r>
            <a:endParaRPr lang="en-US" sz="1410" dirty="0"/>
          </a:p>
        </p:txBody>
      </p:sp>
      <p:sp>
        <p:nvSpPr>
          <p:cNvPr id="42" name="Text 40"/>
          <p:cNvSpPr/>
          <p:nvPr/>
        </p:nvSpPr>
        <p:spPr>
          <a:xfrm>
            <a:off x="566928" y="6117336"/>
            <a:ext cx="1920240" cy="182880"/>
          </a:xfrm>
          <a:prstGeom prst="rect">
            <a:avLst/>
          </a:prstGeom>
          <a:noFill/>
          <a:ln/>
        </p:spPr>
        <p:txBody>
          <a:bodyPr wrap="square" lIns="0" tIns="0" rIns="0" bIns="0" rtlCol="0" anchor="t"/>
          <a:lstStyle/>
          <a:p>
            <a:pPr indent="0" marL="0">
              <a:buNone/>
            </a:pPr>
            <a:r>
              <a:rPr lang="en-US" sz="1100" b="1" dirty="0">
                <a:solidFill>
                  <a:srgbClr val="634AA2"/>
                </a:solidFill>
                <a:latin typeface="Arial" pitchFamily="34" charset="0"/>
                <a:ea typeface="Arial" pitchFamily="34" charset="-122"/>
                <a:cs typeface="Arial" pitchFamily="34" charset="-120"/>
              </a:rPr>
              <a:t>PRIVATE BY DESIGN</a:t>
            </a:r>
            <a:endParaRPr lang="en-US" sz="1100" dirty="0"/>
          </a:p>
        </p:txBody>
      </p:sp>
      <p:sp>
        <p:nvSpPr>
          <p:cNvPr id="43" name="Text 41"/>
          <p:cNvSpPr/>
          <p:nvPr/>
        </p:nvSpPr>
        <p:spPr>
          <a:xfrm>
            <a:off x="2615184" y="5989320"/>
            <a:ext cx="8988552" cy="557784"/>
          </a:xfrm>
          <a:prstGeom prst="rect">
            <a:avLst/>
          </a:prstGeom>
          <a:noFill/>
          <a:ln/>
        </p:spPr>
        <p:txBody>
          <a:bodyPr wrap="square" lIns="0" tIns="0" rIns="0" bIns="0" rtlCol="0" anchor="t"/>
          <a:lstStyle/>
          <a:p>
            <a:pPr indent="0" marL="0">
              <a:buNone/>
            </a:pPr>
            <a:r>
              <a:rPr lang="en-US" sz="1340" dirty="0">
                <a:solidFill>
                  <a:srgbClr val="242038"/>
                </a:solidFill>
                <a:latin typeface="Arial" pitchFamily="34" charset="0"/>
                <a:ea typeface="Arial" pitchFamily="34" charset="-122"/>
                <a:cs typeface="Arial" pitchFamily="34" charset="-120"/>
              </a:rPr>
              <a:t>Private drafts; HR reviews submitted case details. Access, retention and audit controls are built in.</a:t>
            </a:r>
            <a:endParaRPr lang="en-US" sz="1340" dirty="0"/>
          </a:p>
          <a:p>
            <a:pPr indent="0" marL="0">
              <a:buNone/>
            </a:pPr>
            <a:r>
              <a:rPr lang="en-US" sz="1340" dirty="0">
                <a:solidFill>
                  <a:srgbClr val="242038"/>
                </a:solidFill>
                <a:latin typeface="Arial" pitchFamily="34" charset="0"/>
                <a:ea typeface="Arial" pitchFamily="34" charset="-122"/>
                <a:cs typeface="Arial" pitchFamily="34" charset="-120"/>
              </a:rPr>
              <a:t>No generative AI. Wider rollout still needs access, recovery and delivery checks.</a:t>
            </a:r>
            <a:endParaRPr lang="en-US" sz="134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a:ln/>
        </p:spPr>
        <p:txBody>
          <a:bodyPr wrap="square" lIns="0" tIns="0" rIns="0" bIns="0" rtlCol="0" anchor="t"/>
          <a:lstStyle/>
          <a:p>
            <a:pPr indent="0" marL="0">
              <a:buNone/>
            </a:pPr>
            <a:r>
              <a:rPr lang="en-US" sz="3400" b="1" dirty="0">
                <a:solidFill>
                  <a:srgbClr val="242038"/>
                </a:solidFill>
                <a:latin typeface="Arial" pitchFamily="34" charset="0"/>
                <a:ea typeface="Arial" pitchFamily="34" charset="-122"/>
                <a:cs typeface="Arial" pitchFamily="34" charset="-120"/>
              </a:rPr>
              <a:t>A private workflow for managers</a:t>
            </a:r>
            <a:endParaRPr lang="en-US" sz="3400" dirty="0"/>
          </a:p>
        </p:txBody>
      </p:sp>
      <p:sp>
        <p:nvSpPr>
          <p:cNvPr id="3" name="Text 1"/>
          <p:cNvSpPr/>
          <p:nvPr/>
        </p:nvSpPr>
        <p:spPr>
          <a:xfrm>
            <a:off x="566928" y="1060704"/>
            <a:ext cx="10972800" cy="457200"/>
          </a:xfrm>
          <a:prstGeom prst="rect">
            <a:avLst/>
          </a:prstGeom>
          <a:noFill/>
          <a:ln/>
        </p:spPr>
        <p:txBody>
          <a:bodyPr wrap="square" lIns="0" tIns="0" rIns="0" bIns="0" rtlCol="0" anchor="t"/>
          <a:lstStyle/>
          <a:p>
            <a:pPr indent="0" marL="0">
              <a:buNone/>
            </a:pPr>
            <a:r>
              <a:rPr lang="en-US" sz="1700" dirty="0">
                <a:solidFill>
                  <a:srgbClr val="5E6070"/>
                </a:solidFill>
                <a:latin typeface="Arial" pitchFamily="34" charset="0"/>
                <a:ea typeface="Arial" pitchFamily="34" charset="-122"/>
                <a:cs typeface="Arial" pitchFamily="34" charset="-120"/>
              </a:rPr>
              <a:t>Assess the situation, keep the factual record, and choose when to share</a:t>
            </a:r>
            <a:endParaRPr lang="en-US" sz="1700" dirty="0"/>
          </a:p>
        </p:txBody>
      </p:sp>
      <p:sp>
        <p:nvSpPr>
          <p:cNvPr id="4" name="Text 2"/>
          <p:cNvSpPr/>
          <p:nvPr/>
        </p:nvSpPr>
        <p:spPr>
          <a:xfrm>
            <a:off x="566928" y="6419088"/>
            <a:ext cx="10698480" cy="164592"/>
          </a:xfrm>
          <a:prstGeom prst="rect">
            <a:avLst/>
          </a:prstGeom>
          <a:noFill/>
          <a:ln/>
        </p:spPr>
        <p:txBody>
          <a:bodyPr wrap="square" lIns="0" tIns="0" rIns="0" bIns="0" rtlCol="0" anchor="t"/>
          <a:lstStyle/>
          <a:p>
            <a:pPr indent="0" marL="0">
              <a:buNone/>
            </a:pPr>
            <a:r>
              <a:rPr lang="en-US" sz="1000" dirty="0">
                <a:solidFill>
                  <a:srgbClr val="5E6070"/>
                </a:solidFill>
                <a:latin typeface="Arial" pitchFamily="34" charset="0"/>
                <a:ea typeface="Arial" pitchFamily="34" charset="-122"/>
                <a:cs typeface="Arial" pitchFamily="34" charset="-120"/>
              </a:rPr>
              <a:t>PEOPLE ACTION CHECK  |  REVIEW VERSION  |  OCTOBER 9, 2026</a:t>
            </a:r>
            <a:endParaRPr lang="en-US" sz="1000" dirty="0"/>
          </a:p>
        </p:txBody>
      </p:sp>
      <p:sp>
        <p:nvSpPr>
          <p:cNvPr id="5" name="Text 3"/>
          <p:cNvSpPr/>
          <p:nvPr/>
        </p:nvSpPr>
        <p:spPr>
          <a:xfrm>
            <a:off x="11109960" y="6400800"/>
            <a:ext cx="502920" cy="182880"/>
          </a:xfrm>
          <a:prstGeom prst="rect">
            <a:avLst/>
          </a:prstGeom>
          <a:noFill/>
          <a:ln/>
        </p:spPr>
        <p:txBody>
          <a:bodyPr wrap="square" lIns="0" tIns="0" rIns="0" bIns="0" rtlCol="0" anchor="t"/>
          <a:lstStyle/>
          <a:p>
            <a:pPr indent="0" marL="0">
              <a:buNone/>
            </a:pPr>
            <a:r>
              <a:rPr lang="en-US" sz="1100" dirty="0">
                <a:solidFill>
                  <a:srgbClr val="5E6070"/>
                </a:solidFill>
                <a:latin typeface="Arial" pitchFamily="34" charset="0"/>
                <a:ea typeface="Arial" pitchFamily="34" charset="-122"/>
                <a:cs typeface="Arial" pitchFamily="34" charset="-120"/>
              </a:rPr>
              <a:t>2</a:t>
            </a:r>
            <a:endParaRPr lang="en-US" sz="1100" dirty="0"/>
          </a:p>
        </p:txBody>
      </p:sp>
      <p:sp>
        <p:nvSpPr>
          <p:cNvPr id="6" name="Shape 4"/>
          <p:cNvSpPr/>
          <p:nvPr/>
        </p:nvSpPr>
        <p:spPr>
          <a:xfrm>
            <a:off x="566928" y="1810512"/>
            <a:ext cx="5522976" cy="4178808"/>
          </a:xfrm>
          <a:prstGeom prst="roundRect">
            <a:avLst>
              <a:gd name="adj" fmla="val 2626"/>
            </a:avLst>
          </a:prstGeom>
          <a:solidFill>
            <a:srgbClr val="EEEAF8"/>
          </a:solidFill>
          <a:ln w="12700">
            <a:solidFill>
              <a:srgbClr val="EEEAF8">
                <a:alpha val="0"/>
              </a:srgbClr>
            </a:solidFill>
            <a:prstDash val="solid"/>
          </a:ln>
        </p:spPr>
      </p:sp>
      <p:sp>
        <p:nvSpPr>
          <p:cNvPr id="7" name="Text 5"/>
          <p:cNvSpPr/>
          <p:nvPr/>
        </p:nvSpPr>
        <p:spPr>
          <a:xfrm>
            <a:off x="804672" y="2039112"/>
            <a:ext cx="5047488" cy="457200"/>
          </a:xfrm>
          <a:prstGeom prst="rect">
            <a:avLst/>
          </a:prstGeom>
          <a:noFill/>
          <a:ln/>
        </p:spPr>
        <p:txBody>
          <a:bodyPr wrap="square" lIns="0" tIns="0" rIns="0" bIns="0" rtlCol="0" anchor="t"/>
          <a:lstStyle/>
          <a:p>
            <a:pPr indent="0" marL="0">
              <a:buNone/>
            </a:pPr>
            <a:r>
              <a:rPr lang="en-US" sz="2400" b="1" dirty="0">
                <a:solidFill>
                  <a:srgbClr val="242038"/>
                </a:solidFill>
                <a:latin typeface="Arial" pitchFamily="34" charset="0"/>
                <a:ea typeface="Arial" pitchFamily="34" charset="-122"/>
                <a:cs typeface="Arial" pitchFamily="34" charset="-120"/>
              </a:rPr>
              <a:t>Assess and document</a:t>
            </a:r>
            <a:endParaRPr lang="en-US" sz="2400" dirty="0"/>
          </a:p>
        </p:txBody>
      </p:sp>
      <p:sp>
        <p:nvSpPr>
          <p:cNvPr id="8" name="Text 6"/>
          <p:cNvSpPr/>
          <p:nvPr/>
        </p:nvSpPr>
        <p:spPr>
          <a:xfrm>
            <a:off x="804672" y="2679192"/>
            <a:ext cx="5047488" cy="3127248"/>
          </a:xfrm>
          <a:prstGeom prst="rect">
            <a:avLst/>
          </a:prstGeom>
          <a:noFill/>
          <a:ln/>
        </p:spPr>
        <p:txBody>
          <a:bodyPr wrap="square" lIns="0" tIns="0" rIns="0" bIns="0" rtlCol="0" anchor="t"/>
          <a:lstStyle/>
          <a:p>
            <a:pPr indent="0" marL="0">
              <a:buNone/>
            </a:pPr>
            <a:r>
              <a:rPr lang="en-US" sz="2200" dirty="0">
                <a:solidFill>
                  <a:srgbClr val="242038"/>
                </a:solidFill>
                <a:latin typeface="Arial" pitchFamily="34" charset="0"/>
                <a:ea typeface="Arial" pitchFamily="34" charset="-122"/>
                <a:cs typeface="Arial" pitchFamily="34" charset="-120"/>
              </a:rPr>
              <a:t>Choose one or more situations. Read examples and documentation guidance.</a:t>
            </a:r>
            <a:endParaRPr lang="en-US" sz="2200" dirty="0"/>
          </a:p>
          <a:p>
            <a:pPr indent="0" marL="0">
              <a:buNone/>
            </a:pPr>
            <a:endParaRPr lang="en-US" sz="2200" dirty="0"/>
          </a:p>
          <a:p>
            <a:pPr indent="0" marL="0">
              <a:buNone/>
            </a:pPr>
            <a:r>
              <a:rPr lang="en-US" sz="2200" dirty="0">
                <a:solidFill>
                  <a:srgbClr val="242038"/>
                </a:solidFill>
                <a:latin typeface="Arial" pitchFamily="34" charset="0"/>
                <a:ea typeface="Arial" pitchFamily="34" charset="-122"/>
                <a:cs typeface="Arial" pitchFamily="34" charset="-120"/>
              </a:rPr>
              <a:t>Answer five questions per situation with Yes, No or Don’t know. Add notes, links and Slack files.</a:t>
            </a:r>
            <a:endParaRPr lang="en-US" sz="2200" dirty="0"/>
          </a:p>
        </p:txBody>
      </p:sp>
      <p:sp>
        <p:nvSpPr>
          <p:cNvPr id="9" name="Shape 7"/>
          <p:cNvSpPr/>
          <p:nvPr/>
        </p:nvSpPr>
        <p:spPr>
          <a:xfrm>
            <a:off x="6318504" y="1810512"/>
            <a:ext cx="5312664" cy="4178808"/>
          </a:xfrm>
          <a:prstGeom prst="roundRect">
            <a:avLst>
              <a:gd name="adj" fmla="val 2626"/>
            </a:avLst>
          </a:prstGeom>
          <a:solidFill>
            <a:srgbClr val="E5F4EF"/>
          </a:solidFill>
          <a:ln w="12700">
            <a:solidFill>
              <a:srgbClr val="E5F4EF">
                <a:alpha val="0"/>
              </a:srgbClr>
            </a:solidFill>
            <a:prstDash val="solid"/>
          </a:ln>
        </p:spPr>
      </p:sp>
      <p:sp>
        <p:nvSpPr>
          <p:cNvPr id="10" name="Text 8"/>
          <p:cNvSpPr/>
          <p:nvPr/>
        </p:nvSpPr>
        <p:spPr>
          <a:xfrm>
            <a:off x="6556248" y="2039112"/>
            <a:ext cx="4837176" cy="457200"/>
          </a:xfrm>
          <a:prstGeom prst="rect">
            <a:avLst/>
          </a:prstGeom>
          <a:noFill/>
          <a:ln/>
        </p:spPr>
        <p:txBody>
          <a:bodyPr wrap="square" lIns="0" tIns="0" rIns="0" bIns="0" rtlCol="0" anchor="t"/>
          <a:lstStyle/>
          <a:p>
            <a:pPr indent="0" marL="0">
              <a:buNone/>
            </a:pPr>
            <a:r>
              <a:rPr lang="en-US" sz="2400" b="1" dirty="0">
                <a:solidFill>
                  <a:srgbClr val="242038"/>
                </a:solidFill>
                <a:latin typeface="Arial" pitchFamily="34" charset="0"/>
                <a:ea typeface="Arial" pitchFamily="34" charset="-122"/>
                <a:cs typeface="Arial" pitchFamily="34" charset="-120"/>
              </a:rPr>
              <a:t>Save, review and continue</a:t>
            </a:r>
            <a:endParaRPr lang="en-US" sz="2400" dirty="0"/>
          </a:p>
        </p:txBody>
      </p:sp>
      <p:sp>
        <p:nvSpPr>
          <p:cNvPr id="11" name="Text 9"/>
          <p:cNvSpPr/>
          <p:nvPr/>
        </p:nvSpPr>
        <p:spPr>
          <a:xfrm>
            <a:off x="6556248" y="2679192"/>
            <a:ext cx="4837176" cy="3127248"/>
          </a:xfrm>
          <a:prstGeom prst="rect">
            <a:avLst/>
          </a:prstGeom>
          <a:noFill/>
          <a:ln/>
        </p:spPr>
        <p:txBody>
          <a:bodyPr wrap="square" lIns="0" tIns="0" rIns="0" bIns="0" rtlCol="0" anchor="t"/>
          <a:lstStyle/>
          <a:p>
            <a:pPr indent="0" marL="0">
              <a:buNone/>
            </a:pPr>
            <a:r>
              <a:rPr lang="en-US" sz="2200" dirty="0">
                <a:solidFill>
                  <a:srgbClr val="242038"/>
                </a:solidFill>
                <a:latin typeface="Arial" pitchFamily="34" charset="0"/>
                <a:ea typeface="Arial" pitchFamily="34" charset="-122"/>
                <a:cs typeface="Arial" pitchFamily="34" charset="-120"/>
              </a:rPr>
              <a:t>Save a partial check and resume from My history. Review recorded answers and suggested next steps.</a:t>
            </a:r>
            <a:endParaRPr lang="en-US" sz="2200" dirty="0"/>
          </a:p>
          <a:p>
            <a:pPr indent="0" marL="0">
              <a:buNone/>
            </a:pPr>
            <a:endParaRPr lang="en-US" sz="2200" dirty="0"/>
          </a:p>
          <a:p>
            <a:pPr indent="0" marL="0">
              <a:buNone/>
            </a:pPr>
            <a:r>
              <a:rPr lang="en-US" sz="2200" dirty="0">
                <a:solidFill>
                  <a:srgbClr val="242038"/>
                </a:solidFill>
                <a:latin typeface="Arial" pitchFamily="34" charset="0"/>
                <a:ea typeface="Arial" pitchFamily="34" charset="-122"/>
                <a:cs typeface="Arial" pitchFamily="34" charset="-120"/>
              </a:rPr>
              <a:t>Request a Word report or set a follow-up date. Dates are visible; reminders are not automatically sent.</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a:ln/>
        </p:spPr>
        <p:txBody>
          <a:bodyPr wrap="square" lIns="0" tIns="0" rIns="0" bIns="0" rtlCol="0" anchor="t"/>
          <a:lstStyle/>
          <a:p>
            <a:pPr indent="0" marL="0">
              <a:buNone/>
            </a:pPr>
            <a:r>
              <a:rPr lang="en-US" sz="3400" b="1" dirty="0">
                <a:solidFill>
                  <a:srgbClr val="242038"/>
                </a:solidFill>
                <a:latin typeface="Arial" pitchFamily="34" charset="0"/>
                <a:ea typeface="Arial" pitchFamily="34" charset="-122"/>
                <a:cs typeface="Arial" pitchFamily="34" charset="-120"/>
              </a:rPr>
              <a:t>HR reviews explicitly shared cases</a:t>
            </a:r>
            <a:endParaRPr lang="en-US" sz="3400" dirty="0"/>
          </a:p>
        </p:txBody>
      </p:sp>
      <p:sp>
        <p:nvSpPr>
          <p:cNvPr id="3" name="Text 1"/>
          <p:cNvSpPr/>
          <p:nvPr/>
        </p:nvSpPr>
        <p:spPr>
          <a:xfrm>
            <a:off x="566928" y="1060704"/>
            <a:ext cx="10972800" cy="457200"/>
          </a:xfrm>
          <a:prstGeom prst="rect">
            <a:avLst/>
          </a:prstGeom>
          <a:noFill/>
          <a:ln/>
        </p:spPr>
        <p:txBody>
          <a:bodyPr wrap="square" lIns="0" tIns="0" rIns="0" bIns="0" rtlCol="0" anchor="t"/>
          <a:lstStyle/>
          <a:p>
            <a:pPr indent="0" marL="0">
              <a:buNone/>
            </a:pPr>
            <a:r>
              <a:rPr lang="en-US" sz="1700" dirty="0">
                <a:solidFill>
                  <a:srgbClr val="5E6070"/>
                </a:solidFill>
                <a:latin typeface="Arial" pitchFamily="34" charset="0"/>
                <a:ea typeface="Arial" pitchFamily="34" charset="-122"/>
                <a:cs typeface="Arial" pitchFamily="34" charset="-120"/>
              </a:rPr>
              <a:t>Case details, supporting documents, HR review and downloadable reports</a:t>
            </a:r>
            <a:endParaRPr lang="en-US" sz="1700" dirty="0"/>
          </a:p>
        </p:txBody>
      </p:sp>
      <p:sp>
        <p:nvSpPr>
          <p:cNvPr id="4" name="Text 2"/>
          <p:cNvSpPr/>
          <p:nvPr/>
        </p:nvSpPr>
        <p:spPr>
          <a:xfrm>
            <a:off x="566928" y="6419088"/>
            <a:ext cx="10698480" cy="164592"/>
          </a:xfrm>
          <a:prstGeom prst="rect">
            <a:avLst/>
          </a:prstGeom>
          <a:noFill/>
          <a:ln/>
        </p:spPr>
        <p:txBody>
          <a:bodyPr wrap="square" lIns="0" tIns="0" rIns="0" bIns="0" rtlCol="0" anchor="t"/>
          <a:lstStyle/>
          <a:p>
            <a:pPr indent="0" marL="0">
              <a:buNone/>
            </a:pPr>
            <a:r>
              <a:rPr lang="en-US" sz="1000" dirty="0">
                <a:solidFill>
                  <a:srgbClr val="5E6070"/>
                </a:solidFill>
                <a:latin typeface="Arial" pitchFamily="34" charset="0"/>
                <a:ea typeface="Arial" pitchFamily="34" charset="-122"/>
                <a:cs typeface="Arial" pitchFamily="34" charset="-120"/>
              </a:rPr>
              <a:t>PEOPLE ACTION CHECK  |  REVIEW VERSION  |  OCTOBER 9, 2026</a:t>
            </a:r>
            <a:endParaRPr lang="en-US" sz="1000" dirty="0"/>
          </a:p>
        </p:txBody>
      </p:sp>
      <p:sp>
        <p:nvSpPr>
          <p:cNvPr id="5" name="Text 3"/>
          <p:cNvSpPr/>
          <p:nvPr/>
        </p:nvSpPr>
        <p:spPr>
          <a:xfrm>
            <a:off x="11109960" y="6400800"/>
            <a:ext cx="502920" cy="182880"/>
          </a:xfrm>
          <a:prstGeom prst="rect">
            <a:avLst/>
          </a:prstGeom>
          <a:noFill/>
          <a:ln/>
        </p:spPr>
        <p:txBody>
          <a:bodyPr wrap="square" lIns="0" tIns="0" rIns="0" bIns="0" rtlCol="0" anchor="t"/>
          <a:lstStyle/>
          <a:p>
            <a:pPr indent="0" marL="0">
              <a:buNone/>
            </a:pPr>
            <a:r>
              <a:rPr lang="en-US" sz="1100" dirty="0">
                <a:solidFill>
                  <a:srgbClr val="5E6070"/>
                </a:solidFill>
                <a:latin typeface="Arial" pitchFamily="34" charset="0"/>
                <a:ea typeface="Arial" pitchFamily="34" charset="-122"/>
                <a:cs typeface="Arial" pitchFamily="34" charset="-120"/>
              </a:rPr>
              <a:t>3</a:t>
            </a:r>
            <a:endParaRPr lang="en-US" sz="1100" dirty="0"/>
          </a:p>
        </p:txBody>
      </p:sp>
      <p:sp>
        <p:nvSpPr>
          <p:cNvPr id="6" name="Shape 4"/>
          <p:cNvSpPr/>
          <p:nvPr/>
        </p:nvSpPr>
        <p:spPr>
          <a:xfrm>
            <a:off x="566928" y="1874520"/>
            <a:ext cx="3502152" cy="2999232"/>
          </a:xfrm>
          <a:prstGeom prst="roundRect">
            <a:avLst>
              <a:gd name="adj" fmla="val 3659"/>
            </a:avLst>
          </a:prstGeom>
          <a:solidFill>
            <a:srgbClr val="EEEAF8"/>
          </a:solidFill>
          <a:ln w="12700">
            <a:solidFill>
              <a:srgbClr val="EEEAF8">
                <a:alpha val="0"/>
              </a:srgbClr>
            </a:solidFill>
            <a:prstDash val="solid"/>
          </a:ln>
        </p:spPr>
      </p:sp>
      <p:sp>
        <p:nvSpPr>
          <p:cNvPr id="7" name="Text 5"/>
          <p:cNvSpPr/>
          <p:nvPr/>
        </p:nvSpPr>
        <p:spPr>
          <a:xfrm>
            <a:off x="804672" y="2103120"/>
            <a:ext cx="3026664" cy="457200"/>
          </a:xfrm>
          <a:prstGeom prst="rect">
            <a:avLst/>
          </a:prstGeom>
          <a:noFill/>
          <a:ln/>
        </p:spPr>
        <p:txBody>
          <a:bodyPr wrap="square" lIns="0" tIns="0" rIns="0" bIns="0" rtlCol="0" anchor="t"/>
          <a:lstStyle/>
          <a:p>
            <a:pPr indent="0" marL="0">
              <a:buNone/>
            </a:pPr>
            <a:r>
              <a:rPr lang="en-US" sz="2400" b="1" dirty="0">
                <a:solidFill>
                  <a:srgbClr val="242038"/>
                </a:solidFill>
                <a:latin typeface="Arial" pitchFamily="34" charset="0"/>
                <a:ea typeface="Arial" pitchFamily="34" charset="-122"/>
                <a:cs typeface="Arial" pitchFamily="34" charset="-120"/>
              </a:rPr>
              <a:t>Confirm sharing</a:t>
            </a:r>
            <a:endParaRPr lang="en-US" sz="2400" dirty="0"/>
          </a:p>
        </p:txBody>
      </p:sp>
      <p:sp>
        <p:nvSpPr>
          <p:cNvPr id="8" name="Text 6"/>
          <p:cNvSpPr/>
          <p:nvPr/>
        </p:nvSpPr>
        <p:spPr>
          <a:xfrm>
            <a:off x="804672" y="2743200"/>
            <a:ext cx="3026664" cy="1947672"/>
          </a:xfrm>
          <a:prstGeom prst="rect">
            <a:avLst/>
          </a:prstGeom>
          <a:noFill/>
          <a:ln/>
        </p:spPr>
        <p:txBody>
          <a:bodyPr wrap="square" lIns="0" tIns="0" rIns="0" bIns="0" rtlCol="0" anchor="t"/>
          <a:lstStyle/>
          <a:p>
            <a:pPr indent="0" marL="0">
              <a:buNone/>
            </a:pPr>
            <a:r>
              <a:rPr lang="en-US" sz="1900" dirty="0">
                <a:solidFill>
                  <a:srgbClr val="242038"/>
                </a:solidFill>
                <a:latin typeface="Arial" pitchFamily="34" charset="0"/>
                <a:ea typeface="Arial" pitchFamily="34" charset="-122"/>
                <a:cs typeface="Arial" pitchFamily="34" charset="-120"/>
              </a:rPr>
              <a:t>The manager sees the recipients and disclosure before submitting.</a:t>
            </a:r>
            <a:endParaRPr lang="en-US" sz="1900" dirty="0"/>
          </a:p>
        </p:txBody>
      </p:sp>
      <p:sp>
        <p:nvSpPr>
          <p:cNvPr id="9" name="Shape 7"/>
          <p:cNvSpPr/>
          <p:nvPr/>
        </p:nvSpPr>
        <p:spPr>
          <a:xfrm>
            <a:off x="4361688" y="1874520"/>
            <a:ext cx="3502152" cy="2999232"/>
          </a:xfrm>
          <a:prstGeom prst="roundRect">
            <a:avLst>
              <a:gd name="adj" fmla="val 3659"/>
            </a:avLst>
          </a:prstGeom>
          <a:solidFill>
            <a:srgbClr val="E5F4EF"/>
          </a:solidFill>
          <a:ln w="12700">
            <a:solidFill>
              <a:srgbClr val="E5F4EF">
                <a:alpha val="0"/>
              </a:srgbClr>
            </a:solidFill>
            <a:prstDash val="solid"/>
          </a:ln>
        </p:spPr>
      </p:sp>
      <p:sp>
        <p:nvSpPr>
          <p:cNvPr id="10" name="Text 8"/>
          <p:cNvSpPr/>
          <p:nvPr/>
        </p:nvSpPr>
        <p:spPr>
          <a:xfrm>
            <a:off x="4599432" y="2103120"/>
            <a:ext cx="3026664" cy="457200"/>
          </a:xfrm>
          <a:prstGeom prst="rect">
            <a:avLst/>
          </a:prstGeom>
          <a:noFill/>
          <a:ln/>
        </p:spPr>
        <p:txBody>
          <a:bodyPr wrap="square" lIns="0" tIns="0" rIns="0" bIns="0" rtlCol="0" anchor="t"/>
          <a:lstStyle/>
          <a:p>
            <a:pPr indent="0" marL="0">
              <a:buNone/>
            </a:pPr>
            <a:r>
              <a:rPr lang="en-US" sz="2400" b="1" dirty="0">
                <a:solidFill>
                  <a:srgbClr val="242038"/>
                </a:solidFill>
                <a:latin typeface="Arial" pitchFamily="34" charset="0"/>
                <a:ea typeface="Arial" pitchFamily="34" charset="-122"/>
                <a:cs typeface="Arial" pitchFamily="34" charset="-120"/>
              </a:rPr>
              <a:t>Review the case</a:t>
            </a:r>
            <a:endParaRPr lang="en-US" sz="2400" dirty="0"/>
          </a:p>
        </p:txBody>
      </p:sp>
      <p:sp>
        <p:nvSpPr>
          <p:cNvPr id="11" name="Text 9"/>
          <p:cNvSpPr/>
          <p:nvPr/>
        </p:nvSpPr>
        <p:spPr>
          <a:xfrm>
            <a:off x="4599432" y="2743200"/>
            <a:ext cx="3026664" cy="1947672"/>
          </a:xfrm>
          <a:prstGeom prst="rect">
            <a:avLst/>
          </a:prstGeom>
          <a:noFill/>
          <a:ln/>
        </p:spPr>
        <p:txBody>
          <a:bodyPr wrap="square" lIns="0" tIns="0" rIns="0" bIns="0" rtlCol="0" anchor="t"/>
          <a:lstStyle/>
          <a:p>
            <a:pPr indent="0" marL="0">
              <a:buNone/>
            </a:pPr>
            <a:r>
              <a:rPr lang="en-US" sz="1900" dirty="0">
                <a:solidFill>
                  <a:srgbClr val="242038"/>
                </a:solidFill>
                <a:latin typeface="Arial" pitchFamily="34" charset="0"/>
                <a:ea typeface="Arial" pitchFamily="34" charset="-122"/>
                <a:cs typeface="Arial" pitchFamily="34" charset="-120"/>
              </a:rPr>
              <a:t>HR sees answers, notes, risk guidance and supporting documents; download Word reports to their private app DM.</a:t>
            </a:r>
            <a:endParaRPr lang="en-US" sz="1900" dirty="0"/>
          </a:p>
        </p:txBody>
      </p:sp>
      <p:sp>
        <p:nvSpPr>
          <p:cNvPr id="12" name="Shape 10"/>
          <p:cNvSpPr/>
          <p:nvPr/>
        </p:nvSpPr>
        <p:spPr>
          <a:xfrm>
            <a:off x="8156448" y="1874520"/>
            <a:ext cx="3502152" cy="2999232"/>
          </a:xfrm>
          <a:prstGeom prst="roundRect">
            <a:avLst>
              <a:gd name="adj" fmla="val 3659"/>
            </a:avLst>
          </a:prstGeom>
          <a:solidFill>
            <a:srgbClr val="EEEAF8"/>
          </a:solidFill>
          <a:ln w="12700">
            <a:solidFill>
              <a:srgbClr val="EEEAF8">
                <a:alpha val="0"/>
              </a:srgbClr>
            </a:solidFill>
            <a:prstDash val="solid"/>
          </a:ln>
        </p:spPr>
      </p:sp>
      <p:sp>
        <p:nvSpPr>
          <p:cNvPr id="13" name="Text 11"/>
          <p:cNvSpPr/>
          <p:nvPr/>
        </p:nvSpPr>
        <p:spPr>
          <a:xfrm>
            <a:off x="8394192" y="2103120"/>
            <a:ext cx="3026664" cy="457200"/>
          </a:xfrm>
          <a:prstGeom prst="rect">
            <a:avLst/>
          </a:prstGeom>
          <a:noFill/>
          <a:ln/>
        </p:spPr>
        <p:txBody>
          <a:bodyPr wrap="square" lIns="0" tIns="0" rIns="0" bIns="0" rtlCol="0" anchor="t"/>
          <a:lstStyle/>
          <a:p>
            <a:pPr indent="0" marL="0">
              <a:buNone/>
            </a:pPr>
            <a:r>
              <a:rPr lang="en-US" sz="2400" b="1" dirty="0">
                <a:solidFill>
                  <a:srgbClr val="242038"/>
                </a:solidFill>
                <a:latin typeface="Arial" pitchFamily="34" charset="0"/>
                <a:ea typeface="Arial" pitchFamily="34" charset="-122"/>
                <a:cs typeface="Arial" pitchFamily="34" charset="-120"/>
              </a:rPr>
              <a:t>Record a response</a:t>
            </a:r>
            <a:endParaRPr lang="en-US" sz="2400" dirty="0"/>
          </a:p>
        </p:txBody>
      </p:sp>
      <p:sp>
        <p:nvSpPr>
          <p:cNvPr id="14" name="Text 12"/>
          <p:cNvSpPr/>
          <p:nvPr/>
        </p:nvSpPr>
        <p:spPr>
          <a:xfrm>
            <a:off x="8394192" y="2743200"/>
            <a:ext cx="3026664" cy="1947672"/>
          </a:xfrm>
          <a:prstGeom prst="rect">
            <a:avLst/>
          </a:prstGeom>
          <a:noFill/>
          <a:ln/>
        </p:spPr>
        <p:txBody>
          <a:bodyPr wrap="square" lIns="0" tIns="0" rIns="0" bIns="0" rtlCol="0" anchor="t"/>
          <a:lstStyle/>
          <a:p>
            <a:pPr indent="0" marL="0">
              <a:buNone/>
            </a:pPr>
            <a:r>
              <a:rPr lang="en-US" sz="1900" dirty="0">
                <a:solidFill>
                  <a:srgbClr val="242038"/>
                </a:solidFill>
                <a:latin typeface="Arial" pitchFamily="34" charset="0"/>
                <a:ea typeface="Arial" pitchFamily="34" charset="-122"/>
                <a:cs typeface="Arial" pitchFamily="34" charset="-120"/>
              </a:rPr>
              <a:t>HR adds documents, review notes and status; the manager receives a private update.</a:t>
            </a:r>
            <a:endParaRPr lang="en-US" sz="1900" dirty="0"/>
          </a:p>
        </p:txBody>
      </p:sp>
      <p:sp>
        <p:nvSpPr>
          <p:cNvPr id="15" name="Shape 13"/>
          <p:cNvSpPr/>
          <p:nvPr/>
        </p:nvSpPr>
        <p:spPr>
          <a:xfrm>
            <a:off x="566928" y="5193792"/>
            <a:ext cx="11064240" cy="941832"/>
          </a:xfrm>
          <a:prstGeom prst="roundRect">
            <a:avLst>
              <a:gd name="adj" fmla="val 11650"/>
            </a:avLst>
          </a:prstGeom>
          <a:solidFill>
            <a:srgbClr val="F1F3F6"/>
          </a:solidFill>
          <a:ln w="12700">
            <a:solidFill>
              <a:srgbClr val="F1F3F6">
                <a:alpha val="0"/>
              </a:srgbClr>
            </a:solidFill>
            <a:prstDash val="solid"/>
          </a:ln>
        </p:spPr>
      </p:sp>
      <p:sp>
        <p:nvSpPr>
          <p:cNvPr id="16" name="Text 14"/>
          <p:cNvSpPr/>
          <p:nvPr/>
        </p:nvSpPr>
        <p:spPr>
          <a:xfrm>
            <a:off x="813816" y="5376672"/>
            <a:ext cx="10561320" cy="393192"/>
          </a:xfrm>
          <a:prstGeom prst="rect">
            <a:avLst/>
          </a:prstGeom>
          <a:noFill/>
          <a:ln/>
        </p:spPr>
        <p:txBody>
          <a:bodyPr wrap="square" lIns="0" tIns="0" rIns="0" bIns="0" rtlCol="0" anchor="t"/>
          <a:lstStyle/>
          <a:p>
            <a:pPr indent="0" marL="0">
              <a:buNone/>
            </a:pPr>
            <a:r>
              <a:rPr lang="en-US" sz="2000" dirty="0">
                <a:solidFill>
                  <a:srgbClr val="242038"/>
                </a:solidFill>
                <a:latin typeface="Arial" pitchFamily="34" charset="0"/>
                <a:ea typeface="Arial" pitchFamily="34" charset="-122"/>
                <a:cs typeface="Arial" pitchFamily="34" charset="-120"/>
              </a:rPr>
              <a:t>HR manages the policy library and Governance Center. Submitted answers are preserved while HR review details can be updated.</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a:ln/>
        </p:spPr>
        <p:txBody>
          <a:bodyPr wrap="square" lIns="0" tIns="0" rIns="0" bIns="0" rtlCol="0" anchor="t"/>
          <a:lstStyle/>
          <a:p>
            <a:pPr indent="0" marL="0">
              <a:buNone/>
            </a:pPr>
            <a:r>
              <a:rPr lang="en-US" sz="3400" b="1" dirty="0">
                <a:solidFill>
                  <a:srgbClr val="242038"/>
                </a:solidFill>
                <a:latin typeface="Arial" pitchFamily="34" charset="0"/>
                <a:ea typeface="Arial" pitchFamily="34" charset="-122"/>
                <a:cs typeface="Arial" pitchFamily="34" charset="-120"/>
              </a:rPr>
              <a:t>Risk guidance supports human decisions</a:t>
            </a:r>
            <a:endParaRPr lang="en-US" sz="3400" dirty="0"/>
          </a:p>
        </p:txBody>
      </p:sp>
      <p:sp>
        <p:nvSpPr>
          <p:cNvPr id="3" name="Text 1"/>
          <p:cNvSpPr/>
          <p:nvPr/>
        </p:nvSpPr>
        <p:spPr>
          <a:xfrm>
            <a:off x="566928" y="1060704"/>
            <a:ext cx="10972800" cy="457200"/>
          </a:xfrm>
          <a:prstGeom prst="rect">
            <a:avLst/>
          </a:prstGeom>
          <a:noFill/>
          <a:ln/>
        </p:spPr>
        <p:txBody>
          <a:bodyPr wrap="square" lIns="0" tIns="0" rIns="0" bIns="0" rtlCol="0" anchor="t"/>
          <a:lstStyle/>
          <a:p>
            <a:pPr indent="0" marL="0">
              <a:buNone/>
            </a:pPr>
            <a:r>
              <a:rPr lang="en-US" sz="1700" dirty="0">
                <a:solidFill>
                  <a:srgbClr val="5E6070"/>
                </a:solidFill>
                <a:latin typeface="Arial" pitchFamily="34" charset="0"/>
                <a:ea typeface="Arial" pitchFamily="34" charset="-122"/>
                <a:cs typeface="Arial" pitchFamily="34" charset="-120"/>
              </a:rPr>
              <a:t>Responses produce a rule-based assessment, not an employment decision</a:t>
            </a:r>
            <a:endParaRPr lang="en-US" sz="1700" dirty="0"/>
          </a:p>
        </p:txBody>
      </p:sp>
      <p:sp>
        <p:nvSpPr>
          <p:cNvPr id="4" name="Text 2"/>
          <p:cNvSpPr/>
          <p:nvPr/>
        </p:nvSpPr>
        <p:spPr>
          <a:xfrm>
            <a:off x="566928" y="6419088"/>
            <a:ext cx="10698480" cy="164592"/>
          </a:xfrm>
          <a:prstGeom prst="rect">
            <a:avLst/>
          </a:prstGeom>
          <a:noFill/>
          <a:ln/>
        </p:spPr>
        <p:txBody>
          <a:bodyPr wrap="square" lIns="0" tIns="0" rIns="0" bIns="0" rtlCol="0" anchor="t"/>
          <a:lstStyle/>
          <a:p>
            <a:pPr indent="0" marL="0">
              <a:buNone/>
            </a:pPr>
            <a:r>
              <a:rPr lang="en-US" sz="1000" dirty="0">
                <a:solidFill>
                  <a:srgbClr val="5E6070"/>
                </a:solidFill>
                <a:latin typeface="Arial" pitchFamily="34" charset="0"/>
                <a:ea typeface="Arial" pitchFamily="34" charset="-122"/>
                <a:cs typeface="Arial" pitchFamily="34" charset="-120"/>
              </a:rPr>
              <a:t>PEOPLE ACTION CHECK  |  REVIEW VERSION  |  OCTOBER 9, 2026</a:t>
            </a:r>
            <a:endParaRPr lang="en-US" sz="1000" dirty="0"/>
          </a:p>
        </p:txBody>
      </p:sp>
      <p:sp>
        <p:nvSpPr>
          <p:cNvPr id="5" name="Text 3"/>
          <p:cNvSpPr/>
          <p:nvPr/>
        </p:nvSpPr>
        <p:spPr>
          <a:xfrm>
            <a:off x="11109960" y="6400800"/>
            <a:ext cx="502920" cy="182880"/>
          </a:xfrm>
          <a:prstGeom prst="rect">
            <a:avLst/>
          </a:prstGeom>
          <a:noFill/>
          <a:ln/>
        </p:spPr>
        <p:txBody>
          <a:bodyPr wrap="square" lIns="0" tIns="0" rIns="0" bIns="0" rtlCol="0" anchor="t"/>
          <a:lstStyle/>
          <a:p>
            <a:pPr indent="0" marL="0">
              <a:buNone/>
            </a:pPr>
            <a:r>
              <a:rPr lang="en-US" sz="1100" dirty="0">
                <a:solidFill>
                  <a:srgbClr val="5E6070"/>
                </a:solidFill>
                <a:latin typeface="Arial" pitchFamily="34" charset="0"/>
                <a:ea typeface="Arial" pitchFamily="34" charset="-122"/>
                <a:cs typeface="Arial" pitchFamily="34" charset="-120"/>
              </a:rPr>
              <a:t>4</a:t>
            </a:r>
            <a:endParaRPr lang="en-US" sz="1100" dirty="0"/>
          </a:p>
        </p:txBody>
      </p:sp>
      <p:sp>
        <p:nvSpPr>
          <p:cNvPr id="6" name="Shape 4"/>
          <p:cNvSpPr/>
          <p:nvPr/>
        </p:nvSpPr>
        <p:spPr>
          <a:xfrm>
            <a:off x="566928" y="1892808"/>
            <a:ext cx="3502152" cy="3246120"/>
          </a:xfrm>
          <a:prstGeom prst="roundRect">
            <a:avLst>
              <a:gd name="adj" fmla="val 3380"/>
            </a:avLst>
          </a:prstGeom>
          <a:solidFill>
            <a:srgbClr val="E5F4EF"/>
          </a:solidFill>
          <a:ln w="12700">
            <a:solidFill>
              <a:srgbClr val="E5F4EF">
                <a:alpha val="0"/>
              </a:srgbClr>
            </a:solidFill>
            <a:prstDash val="solid"/>
          </a:ln>
        </p:spPr>
      </p:sp>
      <p:sp>
        <p:nvSpPr>
          <p:cNvPr id="7" name="Shape 5"/>
          <p:cNvSpPr/>
          <p:nvPr/>
        </p:nvSpPr>
        <p:spPr>
          <a:xfrm>
            <a:off x="804672" y="2157984"/>
            <a:ext cx="393192" cy="393192"/>
          </a:xfrm>
          <a:prstGeom prst="ellipse">
            <a:avLst/>
          </a:prstGeom>
          <a:solidFill>
            <a:srgbClr val="17734A"/>
          </a:solidFill>
          <a:ln w="12700">
            <a:solidFill>
              <a:srgbClr val="17734A">
                <a:alpha val="0"/>
              </a:srgbClr>
            </a:solidFill>
            <a:prstDash val="solid"/>
          </a:ln>
        </p:spPr>
      </p:sp>
      <p:sp>
        <p:nvSpPr>
          <p:cNvPr id="8" name="Text 6"/>
          <p:cNvSpPr/>
          <p:nvPr/>
        </p:nvSpPr>
        <p:spPr>
          <a:xfrm>
            <a:off x="1389888" y="2203704"/>
            <a:ext cx="2404872" cy="274320"/>
          </a:xfrm>
          <a:prstGeom prst="rect">
            <a:avLst/>
          </a:prstGeom>
          <a:noFill/>
          <a:ln/>
        </p:spPr>
        <p:txBody>
          <a:bodyPr wrap="square" lIns="0" tIns="0" rIns="0" bIns="0" rtlCol="0" anchor="t"/>
          <a:lstStyle/>
          <a:p>
            <a:pPr indent="0" marL="0">
              <a:buNone/>
            </a:pPr>
            <a:r>
              <a:rPr lang="en-US" sz="2200" b="1" dirty="0">
                <a:solidFill>
                  <a:srgbClr val="17734A"/>
                </a:solidFill>
                <a:latin typeface="Arial" pitchFamily="34" charset="0"/>
                <a:ea typeface="Arial" pitchFamily="34" charset="-122"/>
                <a:cs typeface="Arial" pitchFamily="34" charset="-120"/>
              </a:rPr>
              <a:t>LOW</a:t>
            </a:r>
            <a:endParaRPr lang="en-US" sz="2200" dirty="0"/>
          </a:p>
        </p:txBody>
      </p:sp>
      <p:sp>
        <p:nvSpPr>
          <p:cNvPr id="9" name="Text 7"/>
          <p:cNvSpPr/>
          <p:nvPr/>
        </p:nvSpPr>
        <p:spPr>
          <a:xfrm>
            <a:off x="813816" y="2788920"/>
            <a:ext cx="3008376" cy="438912"/>
          </a:xfrm>
          <a:prstGeom prst="rect">
            <a:avLst/>
          </a:prstGeom>
          <a:noFill/>
          <a:ln/>
        </p:spPr>
        <p:txBody>
          <a:bodyPr wrap="square" lIns="0" tIns="0" rIns="0" bIns="0" rtlCol="0" anchor="t"/>
          <a:lstStyle/>
          <a:p>
            <a:pPr indent="0" marL="0">
              <a:buNone/>
            </a:pPr>
            <a:r>
              <a:rPr lang="en-US" sz="2200" b="1" dirty="0">
                <a:solidFill>
                  <a:srgbClr val="242038"/>
                </a:solidFill>
                <a:latin typeface="Arial" pitchFamily="34" charset="0"/>
                <a:ea typeface="Arial" pitchFamily="34" charset="-122"/>
                <a:cs typeface="Arial" pitchFamily="34" charset="-120"/>
              </a:rPr>
              <a:t>Use the guidance</a:t>
            </a:r>
            <a:endParaRPr lang="en-US" sz="2200" dirty="0"/>
          </a:p>
        </p:txBody>
      </p:sp>
      <p:sp>
        <p:nvSpPr>
          <p:cNvPr id="10" name="Text 8"/>
          <p:cNvSpPr/>
          <p:nvPr/>
        </p:nvSpPr>
        <p:spPr>
          <a:xfrm>
            <a:off x="813816" y="3483864"/>
            <a:ext cx="2990088" cy="1124712"/>
          </a:xfrm>
          <a:prstGeom prst="rect">
            <a:avLst/>
          </a:prstGeom>
          <a:noFill/>
          <a:ln/>
        </p:spPr>
        <p:txBody>
          <a:bodyPr wrap="square" lIns="0" tIns="0" rIns="0" bIns="0" rtlCol="0" anchor="t"/>
          <a:lstStyle/>
          <a:p>
            <a:pPr indent="0" marL="0">
              <a:buNone/>
            </a:pPr>
            <a:r>
              <a:rPr lang="en-US" sz="2100" dirty="0">
                <a:solidFill>
                  <a:srgbClr val="242038"/>
                </a:solidFill>
                <a:latin typeface="Arial" pitchFamily="34" charset="0"/>
                <a:ea typeface="Arial" pitchFamily="34" charset="-122"/>
                <a:cs typeface="Arial" pitchFamily="34" charset="-120"/>
              </a:rPr>
              <a:t>Review the suggested steps and keep documentation current.</a:t>
            </a:r>
            <a:endParaRPr lang="en-US" sz="2100" dirty="0"/>
          </a:p>
        </p:txBody>
      </p:sp>
      <p:sp>
        <p:nvSpPr>
          <p:cNvPr id="11" name="Shape 9"/>
          <p:cNvSpPr/>
          <p:nvPr/>
        </p:nvSpPr>
        <p:spPr>
          <a:xfrm>
            <a:off x="4361688" y="1892808"/>
            <a:ext cx="3502152" cy="3246120"/>
          </a:xfrm>
          <a:prstGeom prst="roundRect">
            <a:avLst>
              <a:gd name="adj" fmla="val 3380"/>
            </a:avLst>
          </a:prstGeom>
          <a:solidFill>
            <a:srgbClr val="FFF0D5"/>
          </a:solidFill>
          <a:ln w="12700">
            <a:solidFill>
              <a:srgbClr val="FFF0D5">
                <a:alpha val="0"/>
              </a:srgbClr>
            </a:solidFill>
            <a:prstDash val="solid"/>
          </a:ln>
        </p:spPr>
      </p:sp>
      <p:sp>
        <p:nvSpPr>
          <p:cNvPr id="12" name="Shape 10"/>
          <p:cNvSpPr/>
          <p:nvPr/>
        </p:nvSpPr>
        <p:spPr>
          <a:xfrm>
            <a:off x="4599432" y="2157984"/>
            <a:ext cx="393192" cy="393192"/>
          </a:xfrm>
          <a:prstGeom prst="ellipse">
            <a:avLst/>
          </a:prstGeom>
          <a:solidFill>
            <a:srgbClr val="946000"/>
          </a:solidFill>
          <a:ln w="12700">
            <a:solidFill>
              <a:srgbClr val="946000">
                <a:alpha val="0"/>
              </a:srgbClr>
            </a:solidFill>
            <a:prstDash val="solid"/>
          </a:ln>
        </p:spPr>
      </p:sp>
      <p:sp>
        <p:nvSpPr>
          <p:cNvPr id="13" name="Text 11"/>
          <p:cNvSpPr/>
          <p:nvPr/>
        </p:nvSpPr>
        <p:spPr>
          <a:xfrm>
            <a:off x="5184648" y="2203704"/>
            <a:ext cx="2404872" cy="274320"/>
          </a:xfrm>
          <a:prstGeom prst="rect">
            <a:avLst/>
          </a:prstGeom>
          <a:noFill/>
          <a:ln/>
        </p:spPr>
        <p:txBody>
          <a:bodyPr wrap="square" lIns="0" tIns="0" rIns="0" bIns="0" rtlCol="0" anchor="t"/>
          <a:lstStyle/>
          <a:p>
            <a:pPr indent="0" marL="0">
              <a:buNone/>
            </a:pPr>
            <a:r>
              <a:rPr lang="en-US" sz="2200" b="1" dirty="0">
                <a:solidFill>
                  <a:srgbClr val="946000"/>
                </a:solidFill>
                <a:latin typeface="Arial" pitchFamily="34" charset="0"/>
                <a:ea typeface="Arial" pitchFamily="34" charset="-122"/>
                <a:cs typeface="Arial" pitchFamily="34" charset="-120"/>
              </a:rPr>
              <a:t>MEDIUM</a:t>
            </a:r>
            <a:endParaRPr lang="en-US" sz="2200" dirty="0"/>
          </a:p>
        </p:txBody>
      </p:sp>
      <p:sp>
        <p:nvSpPr>
          <p:cNvPr id="14" name="Text 12"/>
          <p:cNvSpPr/>
          <p:nvPr/>
        </p:nvSpPr>
        <p:spPr>
          <a:xfrm>
            <a:off x="4608576" y="2788920"/>
            <a:ext cx="3008376" cy="438912"/>
          </a:xfrm>
          <a:prstGeom prst="rect">
            <a:avLst/>
          </a:prstGeom>
          <a:noFill/>
          <a:ln/>
        </p:spPr>
        <p:txBody>
          <a:bodyPr wrap="square" lIns="0" tIns="0" rIns="0" bIns="0" rtlCol="0" anchor="t"/>
          <a:lstStyle/>
          <a:p>
            <a:pPr indent="0" marL="0">
              <a:buNone/>
            </a:pPr>
            <a:r>
              <a:rPr lang="en-US" sz="2200" b="1" dirty="0">
                <a:solidFill>
                  <a:srgbClr val="242038"/>
                </a:solidFill>
                <a:latin typeface="Arial" pitchFamily="34" charset="0"/>
                <a:ea typeface="Arial" pitchFamily="34" charset="-122"/>
                <a:cs typeface="Arial" pitchFamily="34" charset="-120"/>
              </a:rPr>
              <a:t>Resolve the gaps</a:t>
            </a:r>
            <a:endParaRPr lang="en-US" sz="2200" dirty="0"/>
          </a:p>
        </p:txBody>
      </p:sp>
      <p:sp>
        <p:nvSpPr>
          <p:cNvPr id="15" name="Text 13"/>
          <p:cNvSpPr/>
          <p:nvPr/>
        </p:nvSpPr>
        <p:spPr>
          <a:xfrm>
            <a:off x="4608576" y="3483864"/>
            <a:ext cx="2990088" cy="1124712"/>
          </a:xfrm>
          <a:prstGeom prst="rect">
            <a:avLst/>
          </a:prstGeom>
          <a:noFill/>
          <a:ln/>
        </p:spPr>
        <p:txBody>
          <a:bodyPr wrap="square" lIns="0" tIns="0" rIns="0" bIns="0" rtlCol="0" anchor="t"/>
          <a:lstStyle/>
          <a:p>
            <a:pPr indent="0" marL="0">
              <a:buNone/>
            </a:pPr>
            <a:r>
              <a:rPr lang="en-US" sz="2100" dirty="0">
                <a:solidFill>
                  <a:srgbClr val="242038"/>
                </a:solidFill>
                <a:latin typeface="Arial" pitchFamily="34" charset="0"/>
                <a:ea typeface="Arial" pitchFamily="34" charset="-122"/>
                <a:cs typeface="Arial" pitchFamily="34" charset="-120"/>
              </a:rPr>
              <a:t>Review uncertainty and documentation; consult HR as appropriate.</a:t>
            </a:r>
            <a:endParaRPr lang="en-US" sz="2100" dirty="0"/>
          </a:p>
        </p:txBody>
      </p:sp>
      <p:sp>
        <p:nvSpPr>
          <p:cNvPr id="16" name="Shape 14"/>
          <p:cNvSpPr/>
          <p:nvPr/>
        </p:nvSpPr>
        <p:spPr>
          <a:xfrm>
            <a:off x="8156448" y="1892808"/>
            <a:ext cx="3502152" cy="3246120"/>
          </a:xfrm>
          <a:prstGeom prst="roundRect">
            <a:avLst>
              <a:gd name="adj" fmla="val 3380"/>
            </a:avLst>
          </a:prstGeom>
          <a:solidFill>
            <a:srgbClr val="F9E7EB"/>
          </a:solidFill>
          <a:ln w="12700">
            <a:solidFill>
              <a:srgbClr val="F9E7EB">
                <a:alpha val="0"/>
              </a:srgbClr>
            </a:solidFill>
            <a:prstDash val="solid"/>
          </a:ln>
        </p:spPr>
      </p:sp>
      <p:sp>
        <p:nvSpPr>
          <p:cNvPr id="17" name="Shape 15"/>
          <p:cNvSpPr/>
          <p:nvPr/>
        </p:nvSpPr>
        <p:spPr>
          <a:xfrm>
            <a:off x="8394192" y="2157984"/>
            <a:ext cx="393192" cy="393192"/>
          </a:xfrm>
          <a:prstGeom prst="ellipse">
            <a:avLst/>
          </a:prstGeom>
          <a:solidFill>
            <a:srgbClr val="AF3648"/>
          </a:solidFill>
          <a:ln w="12700">
            <a:solidFill>
              <a:srgbClr val="AF3648">
                <a:alpha val="0"/>
              </a:srgbClr>
            </a:solidFill>
            <a:prstDash val="solid"/>
          </a:ln>
        </p:spPr>
      </p:sp>
      <p:sp>
        <p:nvSpPr>
          <p:cNvPr id="18" name="Text 16"/>
          <p:cNvSpPr/>
          <p:nvPr/>
        </p:nvSpPr>
        <p:spPr>
          <a:xfrm>
            <a:off x="8979408" y="2203704"/>
            <a:ext cx="2404872" cy="274320"/>
          </a:xfrm>
          <a:prstGeom prst="rect">
            <a:avLst/>
          </a:prstGeom>
          <a:noFill/>
          <a:ln/>
        </p:spPr>
        <p:txBody>
          <a:bodyPr wrap="square" lIns="0" tIns="0" rIns="0" bIns="0" rtlCol="0" anchor="t"/>
          <a:lstStyle/>
          <a:p>
            <a:pPr indent="0" marL="0">
              <a:buNone/>
            </a:pPr>
            <a:r>
              <a:rPr lang="en-US" sz="2200" b="1" dirty="0">
                <a:solidFill>
                  <a:srgbClr val="AF3648"/>
                </a:solidFill>
                <a:latin typeface="Arial" pitchFamily="34" charset="0"/>
                <a:ea typeface="Arial" pitchFamily="34" charset="-122"/>
                <a:cs typeface="Arial" pitchFamily="34" charset="-120"/>
              </a:rPr>
              <a:t>HIGH</a:t>
            </a:r>
            <a:endParaRPr lang="en-US" sz="2200" dirty="0"/>
          </a:p>
        </p:txBody>
      </p:sp>
      <p:sp>
        <p:nvSpPr>
          <p:cNvPr id="19" name="Text 17"/>
          <p:cNvSpPr/>
          <p:nvPr/>
        </p:nvSpPr>
        <p:spPr>
          <a:xfrm>
            <a:off x="8403336" y="2788920"/>
            <a:ext cx="3008376" cy="438912"/>
          </a:xfrm>
          <a:prstGeom prst="rect">
            <a:avLst/>
          </a:prstGeom>
          <a:noFill/>
          <a:ln/>
        </p:spPr>
        <p:txBody>
          <a:bodyPr wrap="square" lIns="0" tIns="0" rIns="0" bIns="0" rtlCol="0" anchor="t"/>
          <a:lstStyle/>
          <a:p>
            <a:pPr indent="0" marL="0">
              <a:buNone/>
            </a:pPr>
            <a:r>
              <a:rPr lang="en-US" sz="2200" b="1" dirty="0">
                <a:solidFill>
                  <a:srgbClr val="242038"/>
                </a:solidFill>
                <a:latin typeface="Arial" pitchFamily="34" charset="0"/>
                <a:ea typeface="Arial" pitchFamily="34" charset="-122"/>
                <a:cs typeface="Arial" pitchFamily="34" charset="-120"/>
              </a:rPr>
              <a:t>Stop for review</a:t>
            </a:r>
            <a:endParaRPr lang="en-US" sz="2200" dirty="0"/>
          </a:p>
        </p:txBody>
      </p:sp>
      <p:sp>
        <p:nvSpPr>
          <p:cNvPr id="20" name="Text 18"/>
          <p:cNvSpPr/>
          <p:nvPr/>
        </p:nvSpPr>
        <p:spPr>
          <a:xfrm>
            <a:off x="8403336" y="3483864"/>
            <a:ext cx="2990088" cy="1124712"/>
          </a:xfrm>
          <a:prstGeom prst="rect">
            <a:avLst/>
          </a:prstGeom>
          <a:noFill/>
          <a:ln/>
        </p:spPr>
        <p:txBody>
          <a:bodyPr wrap="square" lIns="0" tIns="0" rIns="0" bIns="0" rtlCol="0" anchor="t"/>
          <a:lstStyle/>
          <a:p>
            <a:pPr indent="0" marL="0">
              <a:buNone/>
            </a:pPr>
            <a:r>
              <a:rPr lang="en-US" sz="2100" dirty="0">
                <a:solidFill>
                  <a:srgbClr val="242038"/>
                </a:solidFill>
                <a:latin typeface="Arial" pitchFamily="34" charset="0"/>
                <a:ea typeface="Arial" pitchFamily="34" charset="-122"/>
                <a:cs typeface="Arial" pitchFamily="34" charset="-120"/>
              </a:rPr>
              <a:t>The app directs HR and, when appropriate, legal review before action.</a:t>
            </a:r>
            <a:endParaRPr lang="en-US" sz="2100" dirty="0"/>
          </a:p>
        </p:txBody>
      </p:sp>
      <p:sp>
        <p:nvSpPr>
          <p:cNvPr id="21" name="Text 19"/>
          <p:cNvSpPr/>
          <p:nvPr/>
        </p:nvSpPr>
        <p:spPr>
          <a:xfrm>
            <a:off x="713232" y="5504688"/>
            <a:ext cx="10789920" cy="475488"/>
          </a:xfrm>
          <a:prstGeom prst="rect">
            <a:avLst/>
          </a:prstGeom>
          <a:noFill/>
          <a:ln/>
        </p:spPr>
        <p:txBody>
          <a:bodyPr wrap="square" lIns="0" tIns="0" rIns="0" bIns="0" rtlCol="0" anchor="t"/>
          <a:lstStyle/>
          <a:p>
            <a:pPr indent="0" marL="0">
              <a:buNone/>
            </a:pPr>
            <a:r>
              <a:rPr lang="en-US" sz="1900" dirty="0">
                <a:solidFill>
                  <a:srgbClr val="5E6070"/>
                </a:solidFill>
                <a:latin typeface="Arial" pitchFamily="34" charset="0"/>
                <a:ea typeface="Arial" pitchFamily="34" charset="-122"/>
                <a:cs typeface="Arial" pitchFamily="34" charset="-120"/>
              </a:rPr>
              <a:t>Critical risk or an unknown critical response can force High risk. The app has no generative AI and does not rate employee performance.</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a:ln/>
        </p:spPr>
        <p:txBody>
          <a:bodyPr wrap="square" lIns="0" tIns="0" rIns="0" bIns="0" rtlCol="0" anchor="t"/>
          <a:lstStyle/>
          <a:p>
            <a:pPr indent="0" marL="0">
              <a:buNone/>
            </a:pPr>
            <a:r>
              <a:rPr lang="en-US" sz="3400" b="1" dirty="0">
                <a:solidFill>
                  <a:srgbClr val="242038"/>
                </a:solidFill>
                <a:latin typeface="Arial" pitchFamily="34" charset="0"/>
                <a:ea typeface="Arial" pitchFamily="34" charset="-122"/>
                <a:cs typeface="Arial" pitchFamily="34" charset="-120"/>
              </a:rPr>
              <a:t>Privacy and governance in the workflow</a:t>
            </a:r>
            <a:endParaRPr lang="en-US" sz="3400" dirty="0"/>
          </a:p>
        </p:txBody>
      </p:sp>
      <p:sp>
        <p:nvSpPr>
          <p:cNvPr id="3" name="Text 1"/>
          <p:cNvSpPr/>
          <p:nvPr/>
        </p:nvSpPr>
        <p:spPr>
          <a:xfrm>
            <a:off x="566928" y="1060704"/>
            <a:ext cx="10972800" cy="457200"/>
          </a:xfrm>
          <a:prstGeom prst="rect">
            <a:avLst/>
          </a:prstGeom>
          <a:noFill/>
          <a:ln/>
        </p:spPr>
        <p:txBody>
          <a:bodyPr wrap="square" lIns="0" tIns="0" rIns="0" bIns="0" rtlCol="0" anchor="t"/>
          <a:lstStyle/>
          <a:p>
            <a:pPr indent="0" marL="0">
              <a:buNone/>
            </a:pPr>
            <a:r>
              <a:rPr lang="en-US" sz="1700" dirty="0">
                <a:solidFill>
                  <a:srgbClr val="5E6070"/>
                </a:solidFill>
                <a:latin typeface="Arial" pitchFamily="34" charset="0"/>
                <a:ea typeface="Arial" pitchFamily="34" charset="-122"/>
                <a:cs typeface="Arial" pitchFamily="34" charset="-120"/>
              </a:rPr>
              <a:t>Share deliberately and keep access limited to the people who need it</a:t>
            </a:r>
            <a:endParaRPr lang="en-US" sz="1700" dirty="0"/>
          </a:p>
        </p:txBody>
      </p:sp>
      <p:sp>
        <p:nvSpPr>
          <p:cNvPr id="4" name="Text 2"/>
          <p:cNvSpPr/>
          <p:nvPr/>
        </p:nvSpPr>
        <p:spPr>
          <a:xfrm>
            <a:off x="566928" y="6419088"/>
            <a:ext cx="10698480" cy="164592"/>
          </a:xfrm>
          <a:prstGeom prst="rect">
            <a:avLst/>
          </a:prstGeom>
          <a:noFill/>
          <a:ln/>
        </p:spPr>
        <p:txBody>
          <a:bodyPr wrap="square" lIns="0" tIns="0" rIns="0" bIns="0" rtlCol="0" anchor="t"/>
          <a:lstStyle/>
          <a:p>
            <a:pPr indent="0" marL="0">
              <a:buNone/>
            </a:pPr>
            <a:r>
              <a:rPr lang="en-US" sz="1000" dirty="0">
                <a:solidFill>
                  <a:srgbClr val="5E6070"/>
                </a:solidFill>
                <a:latin typeface="Arial" pitchFamily="34" charset="0"/>
                <a:ea typeface="Arial" pitchFamily="34" charset="-122"/>
                <a:cs typeface="Arial" pitchFamily="34" charset="-120"/>
              </a:rPr>
              <a:t>PEOPLE ACTION CHECK  |  REVIEW VERSION  |  OCTOBER 9, 2026</a:t>
            </a:r>
            <a:endParaRPr lang="en-US" sz="1000" dirty="0"/>
          </a:p>
        </p:txBody>
      </p:sp>
      <p:sp>
        <p:nvSpPr>
          <p:cNvPr id="5" name="Text 3"/>
          <p:cNvSpPr/>
          <p:nvPr/>
        </p:nvSpPr>
        <p:spPr>
          <a:xfrm>
            <a:off x="11109960" y="6400800"/>
            <a:ext cx="502920" cy="182880"/>
          </a:xfrm>
          <a:prstGeom prst="rect">
            <a:avLst/>
          </a:prstGeom>
          <a:noFill/>
          <a:ln/>
        </p:spPr>
        <p:txBody>
          <a:bodyPr wrap="square" lIns="0" tIns="0" rIns="0" bIns="0" rtlCol="0" anchor="t"/>
          <a:lstStyle/>
          <a:p>
            <a:pPr indent="0" marL="0">
              <a:buNone/>
            </a:pPr>
            <a:r>
              <a:rPr lang="en-US" sz="1100" dirty="0">
                <a:solidFill>
                  <a:srgbClr val="5E6070"/>
                </a:solidFill>
                <a:latin typeface="Arial" pitchFamily="34" charset="0"/>
                <a:ea typeface="Arial" pitchFamily="34" charset="-122"/>
                <a:cs typeface="Arial" pitchFamily="34" charset="-120"/>
              </a:rPr>
              <a:t>5</a:t>
            </a:r>
            <a:endParaRPr lang="en-US" sz="1100" dirty="0"/>
          </a:p>
        </p:txBody>
      </p:sp>
      <p:sp>
        <p:nvSpPr>
          <p:cNvPr id="6" name="Shape 4"/>
          <p:cNvSpPr/>
          <p:nvPr/>
        </p:nvSpPr>
        <p:spPr>
          <a:xfrm>
            <a:off x="566928" y="1847088"/>
            <a:ext cx="5522976" cy="4078224"/>
          </a:xfrm>
          <a:prstGeom prst="roundRect">
            <a:avLst>
              <a:gd name="adj" fmla="val 2691"/>
            </a:avLst>
          </a:prstGeom>
          <a:solidFill>
            <a:srgbClr val="EEEAF8"/>
          </a:solidFill>
          <a:ln w="12700">
            <a:solidFill>
              <a:srgbClr val="EEEAF8">
                <a:alpha val="0"/>
              </a:srgbClr>
            </a:solidFill>
            <a:prstDash val="solid"/>
          </a:ln>
        </p:spPr>
      </p:sp>
      <p:sp>
        <p:nvSpPr>
          <p:cNvPr id="7" name="Text 5"/>
          <p:cNvSpPr/>
          <p:nvPr/>
        </p:nvSpPr>
        <p:spPr>
          <a:xfrm>
            <a:off x="804672" y="2075688"/>
            <a:ext cx="5047488" cy="457200"/>
          </a:xfrm>
          <a:prstGeom prst="rect">
            <a:avLst/>
          </a:prstGeom>
          <a:noFill/>
          <a:ln/>
        </p:spPr>
        <p:txBody>
          <a:bodyPr wrap="square" lIns="0" tIns="0" rIns="0" bIns="0" rtlCol="0" anchor="t"/>
          <a:lstStyle/>
          <a:p>
            <a:pPr indent="0" marL="0">
              <a:buNone/>
            </a:pPr>
            <a:r>
              <a:rPr lang="en-US" sz="2400" b="1" dirty="0">
                <a:solidFill>
                  <a:srgbClr val="242038"/>
                </a:solidFill>
                <a:latin typeface="Arial" pitchFamily="34" charset="0"/>
                <a:ea typeface="Arial" pitchFamily="34" charset="-122"/>
                <a:cs typeface="Arial" pitchFamily="34" charset="-120"/>
              </a:rPr>
              <a:t>Governance Center is built</a:t>
            </a:r>
            <a:endParaRPr lang="en-US" sz="2400" dirty="0"/>
          </a:p>
        </p:txBody>
      </p:sp>
      <p:sp>
        <p:nvSpPr>
          <p:cNvPr id="8" name="Text 6"/>
          <p:cNvSpPr/>
          <p:nvPr/>
        </p:nvSpPr>
        <p:spPr>
          <a:xfrm>
            <a:off x="804672" y="2715768"/>
            <a:ext cx="5047488" cy="3026664"/>
          </a:xfrm>
          <a:prstGeom prst="rect">
            <a:avLst/>
          </a:prstGeom>
          <a:noFill/>
          <a:ln/>
        </p:spPr>
        <p:txBody>
          <a:bodyPr wrap="square" lIns="0" tIns="0" rIns="0" bIns="0" rtlCol="0" anchor="t"/>
          <a:lstStyle/>
          <a:p>
            <a:pPr indent="0" marL="0">
              <a:buNone/>
            </a:pPr>
            <a:r>
              <a:rPr lang="en-US" sz="2100" dirty="0">
                <a:solidFill>
                  <a:srgbClr val="242038"/>
                </a:solidFill>
                <a:latin typeface="Arial" pitchFamily="34" charset="0"/>
                <a:ea typeface="Arial" pitchFamily="34" charset="-122"/>
                <a:cs typeface="Arial" pitchFamily="34" charset="-120"/>
              </a:rPr>
              <a:t>HR sees control status, authorized reviewer count, retention settings and record counts.</a:t>
            </a:r>
            <a:endParaRPr lang="en-US" sz="2100" dirty="0"/>
          </a:p>
          <a:p>
            <a:pPr indent="0" marL="0">
              <a:buNone/>
            </a:pPr>
            <a:endParaRPr lang="en-US" sz="2100" dirty="0"/>
          </a:p>
          <a:p>
            <a:pPr indent="0" marL="0">
              <a:buNone/>
            </a:pPr>
            <a:r>
              <a:rPr lang="en-US" sz="2100" dirty="0">
                <a:solidFill>
                  <a:srgbClr val="242038"/>
                </a:solidFill>
                <a:latin typeface="Arial" pitchFamily="34" charset="0"/>
                <a:ea typeface="Arial" pitchFamily="34" charset="-122"/>
                <a:cs typeface="Arial" pitchFamily="34" charset="-120"/>
              </a:rPr>
              <a:t>Recent audit activity shows governed actions and who performed them.</a:t>
            </a:r>
            <a:endParaRPr lang="en-US" sz="2100" dirty="0"/>
          </a:p>
          <a:p>
            <a:pPr indent="0" marL="0">
              <a:buNone/>
            </a:pPr>
            <a:endParaRPr lang="en-US" sz="2100" dirty="0"/>
          </a:p>
          <a:p>
            <a:pPr indent="0" marL="0">
              <a:buNone/>
            </a:pPr>
            <a:r>
              <a:rPr lang="en-US" sz="2100" dirty="0">
                <a:solidFill>
                  <a:srgbClr val="242038"/>
                </a:solidFill>
                <a:latin typeface="Arial" pitchFamily="34" charset="0"/>
                <a:ea typeface="Arial" pitchFamily="34" charset="-122"/>
                <a:cs typeface="Arial" pitchFamily="34" charset="-120"/>
              </a:rPr>
              <a:t>HR access controls protect review and policy changes.</a:t>
            </a:r>
            <a:endParaRPr lang="en-US" sz="2100" dirty="0"/>
          </a:p>
        </p:txBody>
      </p:sp>
      <p:sp>
        <p:nvSpPr>
          <p:cNvPr id="9" name="Shape 7"/>
          <p:cNvSpPr/>
          <p:nvPr/>
        </p:nvSpPr>
        <p:spPr>
          <a:xfrm>
            <a:off x="6318504" y="1847088"/>
            <a:ext cx="5312664" cy="4078224"/>
          </a:xfrm>
          <a:prstGeom prst="roundRect">
            <a:avLst>
              <a:gd name="adj" fmla="val 2691"/>
            </a:avLst>
          </a:prstGeom>
          <a:solidFill>
            <a:srgbClr val="F1F3F6"/>
          </a:solidFill>
          <a:ln w="12700">
            <a:solidFill>
              <a:srgbClr val="F1F3F6">
                <a:alpha val="0"/>
              </a:srgbClr>
            </a:solidFill>
            <a:prstDash val="solid"/>
          </a:ln>
        </p:spPr>
      </p:sp>
      <p:sp>
        <p:nvSpPr>
          <p:cNvPr id="10" name="Text 8"/>
          <p:cNvSpPr/>
          <p:nvPr/>
        </p:nvSpPr>
        <p:spPr>
          <a:xfrm>
            <a:off x="6556248" y="2075688"/>
            <a:ext cx="4837176" cy="457200"/>
          </a:xfrm>
          <a:prstGeom prst="rect">
            <a:avLst/>
          </a:prstGeom>
          <a:noFill/>
          <a:ln/>
        </p:spPr>
        <p:txBody>
          <a:bodyPr wrap="square" lIns="0" tIns="0" rIns="0" bIns="0" rtlCol="0" anchor="t"/>
          <a:lstStyle/>
          <a:p>
            <a:pPr indent="0" marL="0">
              <a:buNone/>
            </a:pPr>
            <a:r>
              <a:rPr lang="en-US" sz="2400" b="1" dirty="0">
                <a:solidFill>
                  <a:srgbClr val="242038"/>
                </a:solidFill>
                <a:latin typeface="Arial" pitchFamily="34" charset="0"/>
                <a:ea typeface="Arial" pitchFamily="34" charset="-122"/>
                <a:cs typeface="Arial" pitchFamily="34" charset="-120"/>
              </a:rPr>
              <a:t>Privacy and record controls</a:t>
            </a:r>
            <a:endParaRPr lang="en-US" sz="2400" dirty="0"/>
          </a:p>
        </p:txBody>
      </p:sp>
      <p:sp>
        <p:nvSpPr>
          <p:cNvPr id="11" name="Text 9"/>
          <p:cNvSpPr/>
          <p:nvPr/>
        </p:nvSpPr>
        <p:spPr>
          <a:xfrm>
            <a:off x="6556248" y="2715768"/>
            <a:ext cx="4837176" cy="3026664"/>
          </a:xfrm>
          <a:prstGeom prst="rect">
            <a:avLst/>
          </a:prstGeom>
          <a:noFill/>
          <a:ln/>
        </p:spPr>
        <p:txBody>
          <a:bodyPr wrap="square" lIns="0" tIns="0" rIns="0" bIns="0" rtlCol="0" anchor="t"/>
          <a:lstStyle/>
          <a:p>
            <a:pPr indent="0" marL="0">
              <a:buNone/>
            </a:pPr>
            <a:r>
              <a:rPr lang="en-US" sz="2100" dirty="0">
                <a:solidFill>
                  <a:srgbClr val="242038"/>
                </a:solidFill>
                <a:latin typeface="Arial" pitchFamily="34" charset="0"/>
                <a:ea typeface="Arial" pitchFamily="34" charset="-122"/>
                <a:cs typeface="Arial" pitchFamily="34" charset="-120"/>
              </a:rPr>
              <a:t>Private drafts have owner access checks.</a:t>
            </a:r>
            <a:endParaRPr lang="en-US" sz="2100" dirty="0"/>
          </a:p>
          <a:p>
            <a:pPr indent="0" marL="0">
              <a:buNone/>
            </a:pPr>
            <a:endParaRPr lang="en-US" sz="2100" dirty="0"/>
          </a:p>
          <a:p>
            <a:pPr indent="0" marL="0">
              <a:buNone/>
            </a:pPr>
            <a:r>
              <a:rPr lang="en-US" sz="2100" dirty="0">
                <a:solidFill>
                  <a:srgbClr val="242038"/>
                </a:solidFill>
                <a:latin typeface="Arial" pitchFamily="34" charset="0"/>
                <a:ea typeface="Arial" pitchFamily="34" charset="-122"/>
                <a:cs typeface="Arial" pitchFamily="34" charset="-120"/>
              </a:rPr>
              <a:t>Retention is configurable; Slack files follow workspace controls.</a:t>
            </a:r>
            <a:endParaRPr lang="en-US" sz="2100" dirty="0"/>
          </a:p>
          <a:p>
            <a:pPr indent="0" marL="0">
              <a:buNone/>
            </a:pPr>
            <a:endParaRPr lang="en-US" sz="2100" dirty="0"/>
          </a:p>
          <a:p>
            <a:pPr indent="0" marL="0">
              <a:buNone/>
            </a:pPr>
            <a:r>
              <a:rPr lang="en-US" sz="2100" dirty="0">
                <a:solidFill>
                  <a:srgbClr val="242038"/>
                </a:solidFill>
                <a:latin typeface="Arial" pitchFamily="34" charset="0"/>
                <a:ea typeface="Arial" pitchFamily="34" charset="-122"/>
                <a:cs typeface="Arial" pitchFamily="34" charset="-120"/>
              </a:rPr>
              <a:t>Deleting a personal check preserves the submitted HR case and delivered reports.</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a:ln/>
        </p:spPr>
        <p:txBody>
          <a:bodyPr wrap="square" lIns="0" tIns="0" rIns="0" bIns="0" rtlCol="0" anchor="t"/>
          <a:lstStyle/>
          <a:p>
            <a:pPr indent="0" marL="0">
              <a:buNone/>
            </a:pPr>
            <a:r>
              <a:rPr lang="en-US" sz="3400" b="1" dirty="0">
                <a:solidFill>
                  <a:srgbClr val="242038"/>
                </a:solidFill>
                <a:latin typeface="Arial" pitchFamily="34" charset="0"/>
                <a:ea typeface="Arial" pitchFamily="34" charset="-122"/>
                <a:cs typeface="Arial" pitchFamily="34" charset="-120"/>
              </a:rPr>
              <a:t>The app now runs in the cloud</a:t>
            </a:r>
            <a:endParaRPr lang="en-US" sz="3400" dirty="0"/>
          </a:p>
        </p:txBody>
      </p:sp>
      <p:sp>
        <p:nvSpPr>
          <p:cNvPr id="3" name="Text 1"/>
          <p:cNvSpPr/>
          <p:nvPr/>
        </p:nvSpPr>
        <p:spPr>
          <a:xfrm>
            <a:off x="566928" y="1060704"/>
            <a:ext cx="10972800" cy="457200"/>
          </a:xfrm>
          <a:prstGeom prst="rect">
            <a:avLst/>
          </a:prstGeom>
          <a:noFill/>
          <a:ln/>
        </p:spPr>
        <p:txBody>
          <a:bodyPr wrap="square" lIns="0" tIns="0" rIns="0" bIns="0" rtlCol="0" anchor="t"/>
          <a:lstStyle/>
          <a:p>
            <a:pPr indent="0" marL="0">
              <a:buNone/>
            </a:pPr>
            <a:r>
              <a:rPr lang="en-US" sz="1700" dirty="0">
                <a:solidFill>
                  <a:srgbClr val="5E6070"/>
                </a:solidFill>
                <a:latin typeface="Arial" pitchFamily="34" charset="0"/>
                <a:ea typeface="Arial" pitchFamily="34" charset="-122"/>
                <a:cs typeface="Arial" pitchFamily="34" charset="-120"/>
              </a:rPr>
              <a:t>Slack is the interface; the app no longer depends on a Mac process</a:t>
            </a:r>
            <a:endParaRPr lang="en-US" sz="1700" dirty="0"/>
          </a:p>
        </p:txBody>
      </p:sp>
      <p:sp>
        <p:nvSpPr>
          <p:cNvPr id="4" name="Text 2"/>
          <p:cNvSpPr/>
          <p:nvPr/>
        </p:nvSpPr>
        <p:spPr>
          <a:xfrm>
            <a:off x="566928" y="6419088"/>
            <a:ext cx="10698480" cy="164592"/>
          </a:xfrm>
          <a:prstGeom prst="rect">
            <a:avLst/>
          </a:prstGeom>
          <a:noFill/>
          <a:ln/>
        </p:spPr>
        <p:txBody>
          <a:bodyPr wrap="square" lIns="0" tIns="0" rIns="0" bIns="0" rtlCol="0" anchor="t"/>
          <a:lstStyle/>
          <a:p>
            <a:pPr indent="0" marL="0">
              <a:buNone/>
            </a:pPr>
            <a:r>
              <a:rPr lang="en-US" sz="1000" dirty="0">
                <a:solidFill>
                  <a:srgbClr val="5E6070"/>
                </a:solidFill>
                <a:latin typeface="Arial" pitchFamily="34" charset="0"/>
                <a:ea typeface="Arial" pitchFamily="34" charset="-122"/>
                <a:cs typeface="Arial" pitchFamily="34" charset="-120"/>
              </a:rPr>
              <a:t>PEOPLE ACTION CHECK  |  REVIEW VERSION  |  OCTOBER 9, 2026</a:t>
            </a:r>
            <a:endParaRPr lang="en-US" sz="1000" dirty="0"/>
          </a:p>
        </p:txBody>
      </p:sp>
      <p:sp>
        <p:nvSpPr>
          <p:cNvPr id="5" name="Text 3"/>
          <p:cNvSpPr/>
          <p:nvPr/>
        </p:nvSpPr>
        <p:spPr>
          <a:xfrm>
            <a:off x="11109960" y="6400800"/>
            <a:ext cx="502920" cy="182880"/>
          </a:xfrm>
          <a:prstGeom prst="rect">
            <a:avLst/>
          </a:prstGeom>
          <a:noFill/>
          <a:ln/>
        </p:spPr>
        <p:txBody>
          <a:bodyPr wrap="square" lIns="0" tIns="0" rIns="0" bIns="0" rtlCol="0" anchor="t"/>
          <a:lstStyle/>
          <a:p>
            <a:pPr indent="0" marL="0">
              <a:buNone/>
            </a:pPr>
            <a:r>
              <a:rPr lang="en-US" sz="1100" dirty="0">
                <a:solidFill>
                  <a:srgbClr val="5E6070"/>
                </a:solidFill>
                <a:latin typeface="Arial" pitchFamily="34" charset="0"/>
                <a:ea typeface="Arial" pitchFamily="34" charset="-122"/>
                <a:cs typeface="Arial" pitchFamily="34" charset="-120"/>
              </a:rPr>
              <a:t>6</a:t>
            </a:r>
            <a:endParaRPr lang="en-US" sz="1100" dirty="0"/>
          </a:p>
        </p:txBody>
      </p:sp>
      <p:sp>
        <p:nvSpPr>
          <p:cNvPr id="6" name="Shape 4"/>
          <p:cNvSpPr/>
          <p:nvPr/>
        </p:nvSpPr>
        <p:spPr>
          <a:xfrm>
            <a:off x="566928" y="1874520"/>
            <a:ext cx="3502152" cy="2377440"/>
          </a:xfrm>
          <a:prstGeom prst="roundRect">
            <a:avLst>
              <a:gd name="adj" fmla="val 4615"/>
            </a:avLst>
          </a:prstGeom>
          <a:solidFill>
            <a:srgbClr val="EEEAF8"/>
          </a:solidFill>
          <a:ln w="12700">
            <a:solidFill>
              <a:srgbClr val="EEEAF8">
                <a:alpha val="0"/>
              </a:srgbClr>
            </a:solidFill>
            <a:prstDash val="solid"/>
          </a:ln>
        </p:spPr>
      </p:sp>
      <p:sp>
        <p:nvSpPr>
          <p:cNvPr id="7" name="Text 5"/>
          <p:cNvSpPr/>
          <p:nvPr/>
        </p:nvSpPr>
        <p:spPr>
          <a:xfrm>
            <a:off x="804672" y="2103120"/>
            <a:ext cx="3026664" cy="457200"/>
          </a:xfrm>
          <a:prstGeom prst="rect">
            <a:avLst/>
          </a:prstGeom>
          <a:noFill/>
          <a:ln/>
        </p:spPr>
        <p:txBody>
          <a:bodyPr wrap="square" lIns="0" tIns="0" rIns="0" bIns="0" rtlCol="0" anchor="t"/>
          <a:lstStyle/>
          <a:p>
            <a:pPr indent="0" marL="0">
              <a:buNone/>
            </a:pPr>
            <a:r>
              <a:rPr lang="en-US" sz="2400" b="1" dirty="0">
                <a:solidFill>
                  <a:srgbClr val="242038"/>
                </a:solidFill>
                <a:latin typeface="Arial" pitchFamily="34" charset="0"/>
                <a:ea typeface="Arial" pitchFamily="34" charset="-122"/>
                <a:cs typeface="Arial" pitchFamily="34" charset="-120"/>
              </a:rPr>
              <a:t>Slack</a:t>
            </a:r>
            <a:endParaRPr lang="en-US" sz="2400" dirty="0"/>
          </a:p>
        </p:txBody>
      </p:sp>
      <p:sp>
        <p:nvSpPr>
          <p:cNvPr id="8" name="Text 6"/>
          <p:cNvSpPr/>
          <p:nvPr/>
        </p:nvSpPr>
        <p:spPr>
          <a:xfrm>
            <a:off x="804672" y="2743200"/>
            <a:ext cx="3026664" cy="1325880"/>
          </a:xfrm>
          <a:prstGeom prst="rect">
            <a:avLst/>
          </a:prstGeom>
          <a:noFill/>
          <a:ln/>
        </p:spPr>
        <p:txBody>
          <a:bodyPr wrap="square" lIns="0" tIns="0" rIns="0" bIns="0" rtlCol="0" anchor="t"/>
          <a:lstStyle/>
          <a:p>
            <a:pPr indent="0" marL="0">
              <a:buNone/>
            </a:pPr>
            <a:r>
              <a:rPr lang="en-US" sz="2000" dirty="0">
                <a:solidFill>
                  <a:srgbClr val="242038"/>
                </a:solidFill>
                <a:latin typeface="Arial" pitchFamily="34" charset="0"/>
                <a:ea typeface="Arial" pitchFamily="34" charset="-122"/>
                <a:cs typeface="Arial" pitchFamily="34" charset="-120"/>
              </a:rPr>
              <a:t>Forms, buttons, private notifications</a:t>
            </a:r>
            <a:endParaRPr lang="en-US" sz="2000" dirty="0"/>
          </a:p>
        </p:txBody>
      </p:sp>
      <p:sp>
        <p:nvSpPr>
          <p:cNvPr id="9" name="Shape 7"/>
          <p:cNvSpPr/>
          <p:nvPr/>
        </p:nvSpPr>
        <p:spPr>
          <a:xfrm>
            <a:off x="4361688" y="1874520"/>
            <a:ext cx="3502152" cy="2377440"/>
          </a:xfrm>
          <a:prstGeom prst="roundRect">
            <a:avLst>
              <a:gd name="adj" fmla="val 4615"/>
            </a:avLst>
          </a:prstGeom>
          <a:solidFill>
            <a:srgbClr val="E5F4EF"/>
          </a:solidFill>
          <a:ln w="12700">
            <a:solidFill>
              <a:srgbClr val="E5F4EF">
                <a:alpha val="0"/>
              </a:srgbClr>
            </a:solidFill>
            <a:prstDash val="solid"/>
          </a:ln>
        </p:spPr>
      </p:sp>
      <p:sp>
        <p:nvSpPr>
          <p:cNvPr id="10" name="Text 8"/>
          <p:cNvSpPr/>
          <p:nvPr/>
        </p:nvSpPr>
        <p:spPr>
          <a:xfrm>
            <a:off x="4599432" y="2103120"/>
            <a:ext cx="3026664" cy="457200"/>
          </a:xfrm>
          <a:prstGeom prst="rect">
            <a:avLst/>
          </a:prstGeom>
          <a:noFill/>
          <a:ln/>
        </p:spPr>
        <p:txBody>
          <a:bodyPr wrap="square" lIns="0" tIns="0" rIns="0" bIns="0" rtlCol="0" anchor="t"/>
          <a:lstStyle/>
          <a:p>
            <a:pPr indent="0" marL="0">
              <a:buNone/>
            </a:pPr>
            <a:r>
              <a:rPr lang="en-US" sz="2400" b="1" dirty="0">
                <a:solidFill>
                  <a:srgbClr val="242038"/>
                </a:solidFill>
                <a:latin typeface="Arial" pitchFamily="34" charset="0"/>
                <a:ea typeface="Arial" pitchFamily="34" charset="-122"/>
                <a:cs typeface="Arial" pitchFamily="34" charset="-120"/>
              </a:rPr>
              <a:t>Cloudflare</a:t>
            </a:r>
            <a:endParaRPr lang="en-US" sz="2400" dirty="0"/>
          </a:p>
        </p:txBody>
      </p:sp>
      <p:sp>
        <p:nvSpPr>
          <p:cNvPr id="11" name="Text 9"/>
          <p:cNvSpPr/>
          <p:nvPr/>
        </p:nvSpPr>
        <p:spPr>
          <a:xfrm>
            <a:off x="4599432" y="2743200"/>
            <a:ext cx="3026664" cy="1325880"/>
          </a:xfrm>
          <a:prstGeom prst="rect">
            <a:avLst/>
          </a:prstGeom>
          <a:noFill/>
          <a:ln/>
        </p:spPr>
        <p:txBody>
          <a:bodyPr wrap="square" lIns="0" tIns="0" rIns="0" bIns="0" rtlCol="0" anchor="t"/>
          <a:lstStyle/>
          <a:p>
            <a:pPr indent="0" marL="0">
              <a:buNone/>
            </a:pPr>
            <a:r>
              <a:rPr lang="en-US" sz="2000" dirty="0">
                <a:solidFill>
                  <a:srgbClr val="242038"/>
                </a:solidFill>
                <a:latin typeface="Arial" pitchFamily="34" charset="0"/>
                <a:ea typeface="Arial" pitchFamily="34" charset="-122"/>
                <a:cs typeface="Arial" pitchFamily="34" charset="-120"/>
              </a:rPr>
              <a:t>Online app, routing and protected settings</a:t>
            </a:r>
            <a:endParaRPr lang="en-US" sz="2000" dirty="0"/>
          </a:p>
        </p:txBody>
      </p:sp>
      <p:sp>
        <p:nvSpPr>
          <p:cNvPr id="12" name="Shape 10"/>
          <p:cNvSpPr/>
          <p:nvPr/>
        </p:nvSpPr>
        <p:spPr>
          <a:xfrm>
            <a:off x="8156448" y="1874520"/>
            <a:ext cx="3502152" cy="2377440"/>
          </a:xfrm>
          <a:prstGeom prst="roundRect">
            <a:avLst>
              <a:gd name="adj" fmla="val 4615"/>
            </a:avLst>
          </a:prstGeom>
          <a:solidFill>
            <a:srgbClr val="F1F3F6"/>
          </a:solidFill>
          <a:ln w="12700">
            <a:solidFill>
              <a:srgbClr val="F1F3F6">
                <a:alpha val="0"/>
              </a:srgbClr>
            </a:solidFill>
            <a:prstDash val="solid"/>
          </a:ln>
        </p:spPr>
      </p:sp>
      <p:sp>
        <p:nvSpPr>
          <p:cNvPr id="13" name="Text 11"/>
          <p:cNvSpPr/>
          <p:nvPr/>
        </p:nvSpPr>
        <p:spPr>
          <a:xfrm>
            <a:off x="8394192" y="2103120"/>
            <a:ext cx="3026664" cy="457200"/>
          </a:xfrm>
          <a:prstGeom prst="rect">
            <a:avLst/>
          </a:prstGeom>
          <a:noFill/>
          <a:ln/>
        </p:spPr>
        <p:txBody>
          <a:bodyPr wrap="square" lIns="0" tIns="0" rIns="0" bIns="0" rtlCol="0" anchor="t"/>
          <a:lstStyle/>
          <a:p>
            <a:pPr indent="0" marL="0">
              <a:buNone/>
            </a:pPr>
            <a:r>
              <a:rPr lang="en-US" sz="2400" b="1" dirty="0">
                <a:solidFill>
                  <a:srgbClr val="242038"/>
                </a:solidFill>
                <a:latin typeface="Arial" pitchFamily="34" charset="0"/>
                <a:ea typeface="Arial" pitchFamily="34" charset="-122"/>
                <a:cs typeface="Arial" pitchFamily="34" charset="-120"/>
              </a:rPr>
              <a:t>Supabase</a:t>
            </a:r>
            <a:endParaRPr lang="en-US" sz="2400" dirty="0"/>
          </a:p>
        </p:txBody>
      </p:sp>
      <p:sp>
        <p:nvSpPr>
          <p:cNvPr id="14" name="Text 12"/>
          <p:cNvSpPr/>
          <p:nvPr/>
        </p:nvSpPr>
        <p:spPr>
          <a:xfrm>
            <a:off x="8394192" y="2743200"/>
            <a:ext cx="3026664" cy="1325880"/>
          </a:xfrm>
          <a:prstGeom prst="rect">
            <a:avLst/>
          </a:prstGeom>
          <a:noFill/>
          <a:ln/>
        </p:spPr>
        <p:txBody>
          <a:bodyPr wrap="square" lIns="0" tIns="0" rIns="0" bIns="0" rtlCol="0" anchor="t"/>
          <a:lstStyle/>
          <a:p>
            <a:pPr indent="0" marL="0">
              <a:buNone/>
            </a:pPr>
            <a:r>
              <a:rPr lang="en-US" sz="2000" dirty="0">
                <a:solidFill>
                  <a:srgbClr val="242038"/>
                </a:solidFill>
                <a:latin typeface="Arial" pitchFamily="34" charset="0"/>
                <a:ea typeface="Arial" pitchFamily="34" charset="-122"/>
                <a:cs typeface="Arial" pitchFamily="34" charset="-120"/>
              </a:rPr>
              <a:t>Checks, shared snapshots, policies and audit records</a:t>
            </a:r>
            <a:endParaRPr lang="en-US" sz="2000" dirty="0"/>
          </a:p>
        </p:txBody>
      </p:sp>
      <p:sp>
        <p:nvSpPr>
          <p:cNvPr id="15" name="Shape 13"/>
          <p:cNvSpPr/>
          <p:nvPr/>
        </p:nvSpPr>
        <p:spPr>
          <a:xfrm>
            <a:off x="566928" y="4636008"/>
            <a:ext cx="11064240" cy="1481328"/>
          </a:xfrm>
          <a:prstGeom prst="roundRect">
            <a:avLst>
              <a:gd name="adj" fmla="val 7407"/>
            </a:avLst>
          </a:prstGeom>
          <a:solidFill>
            <a:srgbClr val="FFF0D5"/>
          </a:solidFill>
          <a:ln w="12700">
            <a:solidFill>
              <a:srgbClr val="FFF0D5">
                <a:alpha val="0"/>
              </a:srgbClr>
            </a:solidFill>
            <a:prstDash val="solid"/>
          </a:ln>
        </p:spPr>
      </p:sp>
      <p:sp>
        <p:nvSpPr>
          <p:cNvPr id="16" name="Text 14"/>
          <p:cNvSpPr/>
          <p:nvPr/>
        </p:nvSpPr>
        <p:spPr>
          <a:xfrm>
            <a:off x="804672" y="4855464"/>
            <a:ext cx="10588752" cy="320040"/>
          </a:xfrm>
          <a:prstGeom prst="rect">
            <a:avLst/>
          </a:prstGeom>
          <a:noFill/>
          <a:ln/>
        </p:spPr>
        <p:txBody>
          <a:bodyPr wrap="square" lIns="0" tIns="0" rIns="0" bIns="0" rtlCol="0" anchor="t"/>
          <a:lstStyle/>
          <a:p>
            <a:pPr indent="0" marL="0">
              <a:buNone/>
            </a:pPr>
            <a:r>
              <a:rPr lang="en-US" sz="2300" b="1" dirty="0">
                <a:solidFill>
                  <a:srgbClr val="242038"/>
                </a:solidFill>
                <a:latin typeface="Arial" pitchFamily="34" charset="0"/>
                <a:ea typeface="Arial" pitchFamily="34" charset="-122"/>
                <a:cs typeface="Arial" pitchFamily="34" charset="-120"/>
              </a:rPr>
              <a:t>What “backed up” means</a:t>
            </a:r>
            <a:endParaRPr lang="en-US" sz="2300" dirty="0"/>
          </a:p>
        </p:txBody>
      </p:sp>
      <p:sp>
        <p:nvSpPr>
          <p:cNvPr id="17" name="Text 15"/>
          <p:cNvSpPr/>
          <p:nvPr/>
        </p:nvSpPr>
        <p:spPr>
          <a:xfrm>
            <a:off x="804672" y="5358384"/>
            <a:ext cx="10561320" cy="393192"/>
          </a:xfrm>
          <a:prstGeom prst="rect">
            <a:avLst/>
          </a:prstGeom>
          <a:noFill/>
          <a:ln/>
        </p:spPr>
        <p:txBody>
          <a:bodyPr wrap="square" lIns="0" tIns="0" rIns="0" bIns="0" rtlCol="0" anchor="t"/>
          <a:lstStyle/>
          <a:p>
            <a:pPr indent="0" marL="0">
              <a:buNone/>
            </a:pPr>
            <a:r>
              <a:rPr lang="en-US" sz="2000" dirty="0">
                <a:solidFill>
                  <a:srgbClr val="242038"/>
                </a:solidFill>
                <a:latin typeface="Arial" pitchFamily="34" charset="0"/>
                <a:ea typeface="Arial" pitchFamily="34" charset="-122"/>
                <a:cs typeface="Arial" pitchFamily="34" charset="-120"/>
              </a:rPr>
              <a:t>App code and text documentation are saved in GitHub. That is separate from employee-data backup: cloud backup and restore still need verification.</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a:ln/>
        </p:spPr>
        <p:txBody>
          <a:bodyPr wrap="square" lIns="0" tIns="0" rIns="0" bIns="0" rtlCol="0" anchor="t"/>
          <a:lstStyle/>
          <a:p>
            <a:pPr indent="0" marL="0">
              <a:buNone/>
            </a:pPr>
            <a:r>
              <a:rPr lang="en-US" sz="3400" b="1" dirty="0">
                <a:solidFill>
                  <a:srgbClr val="242038"/>
                </a:solidFill>
                <a:latin typeface="Arial" pitchFamily="34" charset="0"/>
                <a:ea typeface="Arial" pitchFamily="34" charset="-122"/>
                <a:cs typeface="Arial" pitchFamily="34" charset="-120"/>
              </a:rPr>
              <a:t>What was actually checked</a:t>
            </a:r>
            <a:endParaRPr lang="en-US" sz="3400" dirty="0"/>
          </a:p>
        </p:txBody>
      </p:sp>
      <p:sp>
        <p:nvSpPr>
          <p:cNvPr id="3" name="Text 1"/>
          <p:cNvSpPr/>
          <p:nvPr/>
        </p:nvSpPr>
        <p:spPr>
          <a:xfrm>
            <a:off x="566928" y="1060704"/>
            <a:ext cx="10972800" cy="457200"/>
          </a:xfrm>
          <a:prstGeom prst="rect">
            <a:avLst/>
          </a:prstGeom>
          <a:noFill/>
          <a:ln/>
        </p:spPr>
        <p:txBody>
          <a:bodyPr wrap="square" lIns="0" tIns="0" rIns="0" bIns="0" rtlCol="0" anchor="t"/>
          <a:lstStyle/>
          <a:p>
            <a:pPr indent="0" marL="0">
              <a:buNone/>
            </a:pPr>
            <a:r>
              <a:rPr lang="en-US" sz="1700" dirty="0">
                <a:solidFill>
                  <a:srgbClr val="5E6070"/>
                </a:solidFill>
                <a:latin typeface="Arial" pitchFamily="34" charset="0"/>
                <a:ea typeface="Arial" pitchFamily="34" charset="-122"/>
                <a:cs typeface="Arial" pitchFamily="34" charset="-120"/>
              </a:rPr>
              <a:t>Live connection recovery plus automated workflow tests</a:t>
            </a:r>
            <a:endParaRPr lang="en-US" sz="1700" dirty="0"/>
          </a:p>
        </p:txBody>
      </p:sp>
      <p:sp>
        <p:nvSpPr>
          <p:cNvPr id="4" name="Text 2"/>
          <p:cNvSpPr/>
          <p:nvPr/>
        </p:nvSpPr>
        <p:spPr>
          <a:xfrm>
            <a:off x="566928" y="6419088"/>
            <a:ext cx="10698480" cy="164592"/>
          </a:xfrm>
          <a:prstGeom prst="rect">
            <a:avLst/>
          </a:prstGeom>
          <a:noFill/>
          <a:ln/>
        </p:spPr>
        <p:txBody>
          <a:bodyPr wrap="square" lIns="0" tIns="0" rIns="0" bIns="0" rtlCol="0" anchor="t"/>
          <a:lstStyle/>
          <a:p>
            <a:pPr indent="0" marL="0">
              <a:buNone/>
            </a:pPr>
            <a:r>
              <a:rPr lang="en-US" sz="1000" dirty="0">
                <a:solidFill>
                  <a:srgbClr val="5E6070"/>
                </a:solidFill>
                <a:latin typeface="Arial" pitchFamily="34" charset="0"/>
                <a:ea typeface="Arial" pitchFamily="34" charset="-122"/>
                <a:cs typeface="Arial" pitchFamily="34" charset="-120"/>
              </a:rPr>
              <a:t>PEOPLE ACTION CHECK  |  REVIEW VERSION  |  OCTOBER 9, 2026</a:t>
            </a:r>
            <a:endParaRPr lang="en-US" sz="1000" dirty="0"/>
          </a:p>
        </p:txBody>
      </p:sp>
      <p:sp>
        <p:nvSpPr>
          <p:cNvPr id="5" name="Text 3"/>
          <p:cNvSpPr/>
          <p:nvPr/>
        </p:nvSpPr>
        <p:spPr>
          <a:xfrm>
            <a:off x="11109960" y="6400800"/>
            <a:ext cx="502920" cy="182880"/>
          </a:xfrm>
          <a:prstGeom prst="rect">
            <a:avLst/>
          </a:prstGeom>
          <a:noFill/>
          <a:ln/>
        </p:spPr>
        <p:txBody>
          <a:bodyPr wrap="square" lIns="0" tIns="0" rIns="0" bIns="0" rtlCol="0" anchor="t"/>
          <a:lstStyle/>
          <a:p>
            <a:pPr indent="0" marL="0">
              <a:buNone/>
            </a:pPr>
            <a:r>
              <a:rPr lang="en-US" sz="1100" dirty="0">
                <a:solidFill>
                  <a:srgbClr val="5E6070"/>
                </a:solidFill>
                <a:latin typeface="Arial" pitchFamily="34" charset="0"/>
                <a:ea typeface="Arial" pitchFamily="34" charset="-122"/>
                <a:cs typeface="Arial" pitchFamily="34" charset="-120"/>
              </a:rPr>
              <a:t>7</a:t>
            </a:r>
            <a:endParaRPr lang="en-US" sz="1100" dirty="0"/>
          </a:p>
        </p:txBody>
      </p:sp>
      <p:sp>
        <p:nvSpPr>
          <p:cNvPr id="6" name="Shape 4"/>
          <p:cNvSpPr/>
          <p:nvPr/>
        </p:nvSpPr>
        <p:spPr>
          <a:xfrm>
            <a:off x="566928" y="1874520"/>
            <a:ext cx="5522976" cy="4059936"/>
          </a:xfrm>
          <a:prstGeom prst="roundRect">
            <a:avLst>
              <a:gd name="adj" fmla="val 2703"/>
            </a:avLst>
          </a:prstGeom>
          <a:solidFill>
            <a:srgbClr val="E5F4EF"/>
          </a:solidFill>
          <a:ln w="12700">
            <a:solidFill>
              <a:srgbClr val="E5F4EF">
                <a:alpha val="0"/>
              </a:srgbClr>
            </a:solidFill>
            <a:prstDash val="solid"/>
          </a:ln>
        </p:spPr>
      </p:sp>
      <p:sp>
        <p:nvSpPr>
          <p:cNvPr id="7" name="Text 5"/>
          <p:cNvSpPr/>
          <p:nvPr/>
        </p:nvSpPr>
        <p:spPr>
          <a:xfrm>
            <a:off x="804672" y="2103120"/>
            <a:ext cx="5047488" cy="457200"/>
          </a:xfrm>
          <a:prstGeom prst="rect">
            <a:avLst/>
          </a:prstGeom>
          <a:noFill/>
          <a:ln/>
        </p:spPr>
        <p:txBody>
          <a:bodyPr wrap="square" lIns="0" tIns="0" rIns="0" bIns="0" rtlCol="0" anchor="t"/>
          <a:lstStyle/>
          <a:p>
            <a:pPr indent="0" marL="0">
              <a:buNone/>
            </a:pPr>
            <a:r>
              <a:rPr lang="en-US" sz="2400" b="1" dirty="0">
                <a:solidFill>
                  <a:srgbClr val="242038"/>
                </a:solidFill>
                <a:latin typeface="Arial" pitchFamily="34" charset="0"/>
                <a:ea typeface="Arial" pitchFamily="34" charset="-122"/>
                <a:cs typeface="Arial" pitchFamily="34" charset="-120"/>
              </a:rPr>
              <a:t>Observed live in Slack</a:t>
            </a:r>
            <a:endParaRPr lang="en-US" sz="2400" dirty="0"/>
          </a:p>
        </p:txBody>
      </p:sp>
      <p:sp>
        <p:nvSpPr>
          <p:cNvPr id="8" name="Text 6"/>
          <p:cNvSpPr/>
          <p:nvPr/>
        </p:nvSpPr>
        <p:spPr>
          <a:xfrm>
            <a:off x="804672" y="2743200"/>
            <a:ext cx="5047488" cy="3008376"/>
          </a:xfrm>
          <a:prstGeom prst="rect">
            <a:avLst/>
          </a:prstGeom>
          <a:noFill/>
          <a:ln/>
        </p:spPr>
        <p:txBody>
          <a:bodyPr wrap="square" lIns="0" tIns="0" rIns="0" bIns="0" rtlCol="0" anchor="t"/>
          <a:lstStyle/>
          <a:p>
            <a:pPr indent="0" marL="0">
              <a:buNone/>
            </a:pPr>
            <a:r>
              <a:rPr lang="en-US" sz="2100" dirty="0">
                <a:solidFill>
                  <a:srgbClr val="242038"/>
                </a:solidFill>
                <a:latin typeface="Arial" pitchFamily="34" charset="0"/>
                <a:ea typeface="Arial" pitchFamily="34" charset="-122"/>
                <a:cs typeface="Arial" pitchFamily="34" charset="-120"/>
              </a:rPr>
              <a:t>History and a saved assessment opened.</a:t>
            </a:r>
            <a:endParaRPr lang="en-US" sz="2100" dirty="0"/>
          </a:p>
          <a:p>
            <a:pPr indent="0" marL="0">
              <a:buNone/>
            </a:pPr>
            <a:endParaRPr lang="en-US" sz="2100" dirty="0"/>
          </a:p>
          <a:p>
            <a:pPr indent="0" marL="0">
              <a:buNone/>
            </a:pPr>
            <a:r>
              <a:rPr lang="en-US" sz="2100" dirty="0">
                <a:solidFill>
                  <a:srgbClr val="242038"/>
                </a:solidFill>
                <a:latin typeface="Arial" pitchFamily="34" charset="0"/>
                <a:ea typeface="Arial" pitchFamily="34" charset="-122"/>
                <a:cs typeface="Arial" pitchFamily="34" charset="-120"/>
              </a:rPr>
              <a:t>Policy library and HR queue opened.</a:t>
            </a:r>
            <a:endParaRPr lang="en-US" sz="2100" dirty="0"/>
          </a:p>
          <a:p>
            <a:pPr indent="0" marL="0">
              <a:buNone/>
            </a:pPr>
            <a:endParaRPr lang="en-US" sz="2100" dirty="0"/>
          </a:p>
          <a:p>
            <a:pPr indent="0" marL="0">
              <a:buNone/>
            </a:pPr>
            <a:r>
              <a:rPr lang="en-US" sz="2100" dirty="0">
                <a:solidFill>
                  <a:srgbClr val="242038"/>
                </a:solidFill>
                <a:latin typeface="Arial" pitchFamily="34" charset="0"/>
                <a:ea typeface="Arial" pitchFamily="34" charset="-122"/>
                <a:cs typeface="Arial" pitchFamily="34" charset="-120"/>
              </a:rPr>
              <a:t>The new-check entry screen opened.</a:t>
            </a:r>
            <a:endParaRPr lang="en-US" sz="2100" dirty="0"/>
          </a:p>
          <a:p>
            <a:pPr indent="0" marL="0">
              <a:buNone/>
            </a:pPr>
            <a:endParaRPr lang="en-US" sz="2100" dirty="0"/>
          </a:p>
          <a:p>
            <a:pPr indent="0" marL="0">
              <a:buNone/>
            </a:pPr>
            <a:r>
              <a:rPr lang="en-US" sz="2100" dirty="0">
                <a:solidFill>
                  <a:srgbClr val="242038"/>
                </a:solidFill>
                <a:latin typeface="Arial" pitchFamily="34" charset="0"/>
                <a:ea typeface="Arial" pitchFamily="34" charset="-122"/>
                <a:cs typeface="Arial" pitchFamily="34" charset="-120"/>
              </a:rPr>
              <a:t>Cloud storage health returned OK.</a:t>
            </a:r>
            <a:endParaRPr lang="en-US" sz="2100" dirty="0"/>
          </a:p>
        </p:txBody>
      </p:sp>
      <p:sp>
        <p:nvSpPr>
          <p:cNvPr id="9" name="Shape 7"/>
          <p:cNvSpPr/>
          <p:nvPr/>
        </p:nvSpPr>
        <p:spPr>
          <a:xfrm>
            <a:off x="6318504" y="1874520"/>
            <a:ext cx="5312664" cy="4059936"/>
          </a:xfrm>
          <a:prstGeom prst="roundRect">
            <a:avLst>
              <a:gd name="adj" fmla="val 2703"/>
            </a:avLst>
          </a:prstGeom>
          <a:solidFill>
            <a:srgbClr val="F1F3F6"/>
          </a:solidFill>
          <a:ln w="12700">
            <a:solidFill>
              <a:srgbClr val="F1F3F6">
                <a:alpha val="0"/>
              </a:srgbClr>
            </a:solidFill>
            <a:prstDash val="solid"/>
          </a:ln>
        </p:spPr>
      </p:sp>
      <p:sp>
        <p:nvSpPr>
          <p:cNvPr id="10" name="Text 8"/>
          <p:cNvSpPr/>
          <p:nvPr/>
        </p:nvSpPr>
        <p:spPr>
          <a:xfrm>
            <a:off x="6556248" y="2121408"/>
            <a:ext cx="4837176" cy="365760"/>
          </a:xfrm>
          <a:prstGeom prst="rect">
            <a:avLst/>
          </a:prstGeom>
          <a:noFill/>
          <a:ln/>
        </p:spPr>
        <p:txBody>
          <a:bodyPr wrap="square" lIns="0" tIns="0" rIns="0" bIns="0" rtlCol="0" anchor="t"/>
          <a:lstStyle/>
          <a:p>
            <a:pPr indent="0" marL="0">
              <a:buNone/>
            </a:pPr>
            <a:r>
              <a:rPr lang="en-US" sz="2400" b="1" dirty="0">
                <a:solidFill>
                  <a:srgbClr val="242038"/>
                </a:solidFill>
                <a:latin typeface="Arial" pitchFamily="34" charset="0"/>
                <a:ea typeface="Arial" pitchFamily="34" charset="-122"/>
                <a:cs typeface="Arial" pitchFamily="34" charset="-120"/>
              </a:rPr>
              <a:t>Automated evidence</a:t>
            </a:r>
            <a:endParaRPr lang="en-US" sz="2400" dirty="0"/>
          </a:p>
        </p:txBody>
      </p:sp>
      <p:sp>
        <p:nvSpPr>
          <p:cNvPr id="11" name="Text 9"/>
          <p:cNvSpPr/>
          <p:nvPr/>
        </p:nvSpPr>
        <p:spPr>
          <a:xfrm>
            <a:off x="6556248" y="2798064"/>
            <a:ext cx="2103120" cy="685800"/>
          </a:xfrm>
          <a:prstGeom prst="rect">
            <a:avLst/>
          </a:prstGeom>
          <a:noFill/>
          <a:ln/>
        </p:spPr>
        <p:txBody>
          <a:bodyPr wrap="square" lIns="0" tIns="0" rIns="0" bIns="0" rtlCol="0" anchor="t"/>
          <a:lstStyle/>
          <a:p>
            <a:pPr indent="0" marL="0">
              <a:buNone/>
            </a:pPr>
            <a:r>
              <a:rPr lang="en-US" sz="5000" b="1" dirty="0">
                <a:solidFill>
                  <a:srgbClr val="634AA2"/>
                </a:solidFill>
                <a:latin typeface="Arial" pitchFamily="34" charset="0"/>
                <a:ea typeface="Arial" pitchFamily="34" charset="-122"/>
                <a:cs typeface="Arial" pitchFamily="34" charset="-120"/>
              </a:rPr>
              <a:t>31</a:t>
            </a:r>
            <a:endParaRPr lang="en-US" sz="5000" dirty="0"/>
          </a:p>
        </p:txBody>
      </p:sp>
      <p:sp>
        <p:nvSpPr>
          <p:cNvPr id="12" name="Text 10"/>
          <p:cNvSpPr/>
          <p:nvPr/>
        </p:nvSpPr>
        <p:spPr>
          <a:xfrm>
            <a:off x="8430768" y="2980944"/>
            <a:ext cx="2706624" cy="320040"/>
          </a:xfrm>
          <a:prstGeom prst="rect">
            <a:avLst/>
          </a:prstGeom>
          <a:noFill/>
          <a:ln/>
        </p:spPr>
        <p:txBody>
          <a:bodyPr wrap="square" lIns="0" tIns="0" rIns="0" bIns="0" rtlCol="0" anchor="t"/>
          <a:lstStyle/>
          <a:p>
            <a:pPr indent="0" marL="0">
              <a:buNone/>
            </a:pPr>
            <a:r>
              <a:rPr lang="en-US" sz="2000" dirty="0">
                <a:solidFill>
                  <a:srgbClr val="242038"/>
                </a:solidFill>
                <a:latin typeface="Arial" pitchFamily="34" charset="0"/>
                <a:ea typeface="Arial" pitchFamily="34" charset="-122"/>
                <a:cs typeface="Arial" pitchFamily="34" charset="-120"/>
              </a:rPr>
              <a:t>passing tests</a:t>
            </a:r>
            <a:endParaRPr lang="en-US" sz="2000" dirty="0"/>
          </a:p>
        </p:txBody>
      </p:sp>
      <p:sp>
        <p:nvSpPr>
          <p:cNvPr id="13" name="Text 11"/>
          <p:cNvSpPr/>
          <p:nvPr/>
        </p:nvSpPr>
        <p:spPr>
          <a:xfrm>
            <a:off x="6556248" y="3749040"/>
            <a:ext cx="2103120" cy="685800"/>
          </a:xfrm>
          <a:prstGeom prst="rect">
            <a:avLst/>
          </a:prstGeom>
          <a:noFill/>
          <a:ln/>
        </p:spPr>
        <p:txBody>
          <a:bodyPr wrap="square" lIns="0" tIns="0" rIns="0" bIns="0" rtlCol="0" anchor="t"/>
          <a:lstStyle/>
          <a:p>
            <a:pPr indent="0" marL="0">
              <a:buNone/>
            </a:pPr>
            <a:r>
              <a:rPr lang="en-US" sz="5000" b="1" dirty="0">
                <a:solidFill>
                  <a:srgbClr val="087D73"/>
                </a:solidFill>
                <a:latin typeface="Arial" pitchFamily="34" charset="0"/>
                <a:ea typeface="Arial" pitchFamily="34" charset="-122"/>
                <a:cs typeface="Arial" pitchFamily="34" charset="-120"/>
              </a:rPr>
              <a:t>81</a:t>
            </a:r>
            <a:endParaRPr lang="en-US" sz="5000" dirty="0"/>
          </a:p>
        </p:txBody>
      </p:sp>
      <p:sp>
        <p:nvSpPr>
          <p:cNvPr id="14" name="Text 12"/>
          <p:cNvSpPr/>
          <p:nvPr/>
        </p:nvSpPr>
        <p:spPr>
          <a:xfrm>
            <a:off x="8430768" y="3931920"/>
            <a:ext cx="2706624" cy="548640"/>
          </a:xfrm>
          <a:prstGeom prst="rect">
            <a:avLst/>
          </a:prstGeom>
          <a:noFill/>
          <a:ln/>
        </p:spPr>
        <p:txBody>
          <a:bodyPr wrap="square" lIns="0" tIns="0" rIns="0" bIns="0" rtlCol="0" anchor="t"/>
          <a:lstStyle/>
          <a:p>
            <a:pPr indent="0" marL="0">
              <a:buNone/>
            </a:pPr>
            <a:r>
              <a:rPr lang="en-US" sz="2000" dirty="0">
                <a:solidFill>
                  <a:srgbClr val="242038"/>
                </a:solidFill>
                <a:latin typeface="Arial" pitchFamily="34" charset="0"/>
                <a:ea typeface="Arial" pitchFamily="34" charset="-122"/>
                <a:cs typeface="Arial" pitchFamily="34" charset="-120"/>
              </a:rPr>
              <a:t>Slack payload checks</a:t>
            </a:r>
            <a:endParaRPr lang="en-US" sz="2000" dirty="0"/>
          </a:p>
        </p:txBody>
      </p:sp>
      <p:sp>
        <p:nvSpPr>
          <p:cNvPr id="15" name="Text 13"/>
          <p:cNvSpPr/>
          <p:nvPr/>
        </p:nvSpPr>
        <p:spPr>
          <a:xfrm>
            <a:off x="6556248" y="4910328"/>
            <a:ext cx="4800600" cy="640080"/>
          </a:xfrm>
          <a:prstGeom prst="rect">
            <a:avLst/>
          </a:prstGeom>
          <a:noFill/>
          <a:ln/>
        </p:spPr>
        <p:txBody>
          <a:bodyPr wrap="square" lIns="0" tIns="0" rIns="0" bIns="0" rtlCol="0" anchor="t"/>
          <a:lstStyle/>
          <a:p>
            <a:pPr indent="0" marL="0">
              <a:buNone/>
            </a:pPr>
            <a:r>
              <a:rPr lang="en-US" sz="1800" dirty="0">
                <a:solidFill>
                  <a:srgbClr val="5E6070"/>
                </a:solidFill>
                <a:latin typeface="Arial" pitchFamily="34" charset="0"/>
                <a:ea typeface="Arial" pitchFamily="34" charset="-122"/>
                <a:cs typeface="Arial" pitchFamily="34" charset="-120"/>
              </a:rPr>
              <a:t>External Slack responses are simulated in the tests. Cloud build also passed.</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a:ln/>
        </p:spPr>
        <p:txBody>
          <a:bodyPr wrap="square" lIns="0" tIns="0" rIns="0" bIns="0" rtlCol="0" anchor="t"/>
          <a:lstStyle/>
          <a:p>
            <a:pPr indent="0" marL="0">
              <a:buNone/>
            </a:pPr>
            <a:r>
              <a:rPr lang="en-US" sz="3400" b="1" dirty="0">
                <a:solidFill>
                  <a:srgbClr val="242038"/>
                </a:solidFill>
                <a:latin typeface="Arial" pitchFamily="34" charset="0"/>
                <a:ea typeface="Arial" pitchFamily="34" charset="-122"/>
                <a:cs typeface="Arial" pitchFamily="34" charset="-120"/>
              </a:rPr>
              <a:t>Before a wider rollout</a:t>
            </a:r>
            <a:endParaRPr lang="en-US" sz="3400" dirty="0"/>
          </a:p>
        </p:txBody>
      </p:sp>
      <p:sp>
        <p:nvSpPr>
          <p:cNvPr id="3" name="Text 1"/>
          <p:cNvSpPr/>
          <p:nvPr/>
        </p:nvSpPr>
        <p:spPr>
          <a:xfrm>
            <a:off x="566928" y="1060704"/>
            <a:ext cx="10972800" cy="457200"/>
          </a:xfrm>
          <a:prstGeom prst="rect">
            <a:avLst/>
          </a:prstGeom>
          <a:noFill/>
          <a:ln/>
        </p:spPr>
        <p:txBody>
          <a:bodyPr wrap="square" lIns="0" tIns="0" rIns="0" bIns="0" rtlCol="0" anchor="t"/>
          <a:lstStyle/>
          <a:p>
            <a:pPr indent="0" marL="0">
              <a:buNone/>
            </a:pPr>
            <a:r>
              <a:rPr lang="en-US" sz="1700" dirty="0">
                <a:solidFill>
                  <a:srgbClr val="5E6070"/>
                </a:solidFill>
                <a:latin typeface="Arial" pitchFamily="34" charset="0"/>
                <a:ea typeface="Arial" pitchFamily="34" charset="-122"/>
                <a:cs typeface="Arial" pitchFamily="34" charset="-120"/>
              </a:rPr>
              <a:t>Keep the working pilot and finish the operational checks</a:t>
            </a:r>
            <a:endParaRPr lang="en-US" sz="1700" dirty="0"/>
          </a:p>
        </p:txBody>
      </p:sp>
      <p:sp>
        <p:nvSpPr>
          <p:cNvPr id="4" name="Text 2"/>
          <p:cNvSpPr/>
          <p:nvPr/>
        </p:nvSpPr>
        <p:spPr>
          <a:xfrm>
            <a:off x="566928" y="6419088"/>
            <a:ext cx="10698480" cy="164592"/>
          </a:xfrm>
          <a:prstGeom prst="rect">
            <a:avLst/>
          </a:prstGeom>
          <a:noFill/>
          <a:ln/>
        </p:spPr>
        <p:txBody>
          <a:bodyPr wrap="square" lIns="0" tIns="0" rIns="0" bIns="0" rtlCol="0" anchor="t"/>
          <a:lstStyle/>
          <a:p>
            <a:pPr indent="0" marL="0">
              <a:buNone/>
            </a:pPr>
            <a:r>
              <a:rPr lang="en-US" sz="1000" dirty="0">
                <a:solidFill>
                  <a:srgbClr val="5E6070"/>
                </a:solidFill>
                <a:latin typeface="Arial" pitchFamily="34" charset="0"/>
                <a:ea typeface="Arial" pitchFamily="34" charset="-122"/>
                <a:cs typeface="Arial" pitchFamily="34" charset="-120"/>
              </a:rPr>
              <a:t>PEOPLE ACTION CHECK  |  REVIEW VERSION  |  OCTOBER 9, 2026</a:t>
            </a:r>
            <a:endParaRPr lang="en-US" sz="1000" dirty="0"/>
          </a:p>
        </p:txBody>
      </p:sp>
      <p:sp>
        <p:nvSpPr>
          <p:cNvPr id="5" name="Text 3"/>
          <p:cNvSpPr/>
          <p:nvPr/>
        </p:nvSpPr>
        <p:spPr>
          <a:xfrm>
            <a:off x="11109960" y="6400800"/>
            <a:ext cx="502920" cy="182880"/>
          </a:xfrm>
          <a:prstGeom prst="rect">
            <a:avLst/>
          </a:prstGeom>
          <a:noFill/>
          <a:ln/>
        </p:spPr>
        <p:txBody>
          <a:bodyPr wrap="square" lIns="0" tIns="0" rIns="0" bIns="0" rtlCol="0" anchor="t"/>
          <a:lstStyle/>
          <a:p>
            <a:pPr indent="0" marL="0">
              <a:buNone/>
            </a:pPr>
            <a:r>
              <a:rPr lang="en-US" sz="1100" dirty="0">
                <a:solidFill>
                  <a:srgbClr val="5E6070"/>
                </a:solidFill>
                <a:latin typeface="Arial" pitchFamily="34" charset="0"/>
                <a:ea typeface="Arial" pitchFamily="34" charset="-122"/>
                <a:cs typeface="Arial" pitchFamily="34" charset="-120"/>
              </a:rPr>
              <a:t>8</a:t>
            </a:r>
            <a:endParaRPr lang="en-US" sz="1100" dirty="0"/>
          </a:p>
        </p:txBody>
      </p:sp>
      <p:sp>
        <p:nvSpPr>
          <p:cNvPr id="6" name="Shape 4"/>
          <p:cNvSpPr/>
          <p:nvPr/>
        </p:nvSpPr>
        <p:spPr>
          <a:xfrm>
            <a:off x="566928" y="1874520"/>
            <a:ext cx="5522976" cy="4059936"/>
          </a:xfrm>
          <a:prstGeom prst="roundRect">
            <a:avLst>
              <a:gd name="adj" fmla="val 2703"/>
            </a:avLst>
          </a:prstGeom>
          <a:solidFill>
            <a:srgbClr val="EEEAF8"/>
          </a:solidFill>
          <a:ln w="12700">
            <a:solidFill>
              <a:srgbClr val="EEEAF8">
                <a:alpha val="0"/>
              </a:srgbClr>
            </a:solidFill>
            <a:prstDash val="solid"/>
          </a:ln>
        </p:spPr>
      </p:sp>
      <p:sp>
        <p:nvSpPr>
          <p:cNvPr id="7" name="Text 5"/>
          <p:cNvSpPr/>
          <p:nvPr/>
        </p:nvSpPr>
        <p:spPr>
          <a:xfrm>
            <a:off x="822960" y="2121408"/>
            <a:ext cx="5020056" cy="402336"/>
          </a:xfrm>
          <a:prstGeom prst="rect">
            <a:avLst/>
          </a:prstGeom>
          <a:noFill/>
          <a:ln/>
        </p:spPr>
        <p:txBody>
          <a:bodyPr wrap="square" lIns="0" tIns="0" rIns="0" bIns="0" rtlCol="0" anchor="t"/>
          <a:lstStyle/>
          <a:p>
            <a:pPr indent="0" marL="0">
              <a:buNone/>
            </a:pPr>
            <a:r>
              <a:rPr lang="en-US" sz="2400" b="1" dirty="0">
                <a:solidFill>
                  <a:srgbClr val="242038"/>
                </a:solidFill>
                <a:latin typeface="Arial" pitchFamily="34" charset="0"/>
                <a:ea typeface="Arial" pitchFamily="34" charset="-122"/>
                <a:cs typeface="Arial" pitchFamily="34" charset="-120"/>
              </a:rPr>
              <a:t>Verify reliability</a:t>
            </a:r>
            <a:endParaRPr lang="en-US" sz="2400" dirty="0"/>
          </a:p>
        </p:txBody>
      </p:sp>
      <p:sp>
        <p:nvSpPr>
          <p:cNvPr id="8" name="Text 6"/>
          <p:cNvSpPr/>
          <p:nvPr/>
        </p:nvSpPr>
        <p:spPr>
          <a:xfrm>
            <a:off x="896112" y="2852928"/>
            <a:ext cx="4828032" cy="2596896"/>
          </a:xfrm>
          <a:prstGeom prst="rect">
            <a:avLst/>
          </a:prstGeom>
          <a:noFill/>
          <a:ln/>
        </p:spPr>
        <p:txBody>
          <a:bodyPr wrap="square" lIns="0" tIns="0" rIns="0" bIns="0" rtlCol="0" anchor="t"/>
          <a:lstStyle/>
          <a:p>
            <a:pPr marL="279400" indent="-279400">
              <a:buSzPct val="100000"/>
              <a:buChar char="•"/>
            </a:pPr>
            <a:r>
              <a:rPr lang="en-US" sz="2200" dirty="0">
                <a:solidFill>
                  <a:srgbClr val="242038"/>
                </a:solidFill>
                <a:latin typeface="Arial" pitchFamily="34" charset="0"/>
                <a:ea typeface="Arial" pitchFamily="34" charset="-122"/>
                <a:cs typeface="Arial" pitchFamily="34" charset="-120"/>
              </a:rPr>
              <a:t>Test separate manager and HR accounts</a:t>
            </a:r>
            <a:endParaRPr lang="en-US" sz="2200" dirty="0"/>
          </a:p>
          <a:p>
            <a:pPr marL="279400" indent="-279400">
              <a:buSzPct val="100000"/>
              <a:buChar char="•"/>
            </a:pPr>
            <a:r>
              <a:rPr lang="en-US" sz="2200" dirty="0">
                <a:solidFill>
                  <a:srgbClr val="242038"/>
                </a:solidFill>
                <a:latin typeface="Arial" pitchFamily="34" charset="0"/>
                <a:ea typeface="Arial" pitchFamily="34" charset="-122"/>
                <a:cs typeface="Arial" pitchFamily="34" charset="-120"/>
              </a:rPr>
              <a:t>Check simultaneous edits in cloud storage</a:t>
            </a:r>
            <a:endParaRPr lang="en-US" sz="2200" dirty="0"/>
          </a:p>
          <a:p>
            <a:pPr marL="279400" indent="-279400">
              <a:buSzPct val="100000"/>
              <a:buChar char="•"/>
            </a:pPr>
            <a:r>
              <a:rPr lang="en-US" sz="2200" dirty="0">
                <a:solidFill>
                  <a:srgbClr val="242038"/>
                </a:solidFill>
                <a:latin typeface="Arial" pitchFamily="34" charset="0"/>
                <a:ea typeface="Arial" pitchFamily="34" charset="-122"/>
                <a:cs typeface="Arial" pitchFamily="34" charset="-120"/>
              </a:rPr>
              <a:t>Exercise failed deliveries and retry</a:t>
            </a:r>
            <a:endParaRPr lang="en-US" sz="2200" dirty="0"/>
          </a:p>
          <a:p>
            <a:pPr marL="279400" indent="-279400">
              <a:buSzPct val="100000"/>
              <a:buChar char="•"/>
            </a:pPr>
            <a:r>
              <a:rPr lang="en-US" sz="2200" dirty="0">
                <a:solidFill>
                  <a:srgbClr val="242038"/>
                </a:solidFill>
                <a:latin typeface="Arial" pitchFamily="34" charset="0"/>
                <a:ea typeface="Arial" pitchFamily="34" charset="-122"/>
                <a:cs typeface="Arial" pitchFamily="34" charset="-120"/>
              </a:rPr>
              <a:t>Verify a cloud backup and restore</a:t>
            </a:r>
            <a:endParaRPr lang="en-US" sz="2200" dirty="0"/>
          </a:p>
        </p:txBody>
      </p:sp>
      <p:sp>
        <p:nvSpPr>
          <p:cNvPr id="9" name="Shape 7"/>
          <p:cNvSpPr/>
          <p:nvPr/>
        </p:nvSpPr>
        <p:spPr>
          <a:xfrm>
            <a:off x="6318504" y="1874520"/>
            <a:ext cx="5312664" cy="4059936"/>
          </a:xfrm>
          <a:prstGeom prst="roundRect">
            <a:avLst>
              <a:gd name="adj" fmla="val 2703"/>
            </a:avLst>
          </a:prstGeom>
          <a:solidFill>
            <a:srgbClr val="E5F4EF"/>
          </a:solidFill>
          <a:ln w="12700">
            <a:solidFill>
              <a:srgbClr val="E5F4EF">
                <a:alpha val="0"/>
              </a:srgbClr>
            </a:solidFill>
            <a:prstDash val="solid"/>
          </a:ln>
        </p:spPr>
      </p:sp>
      <p:sp>
        <p:nvSpPr>
          <p:cNvPr id="10" name="Text 8"/>
          <p:cNvSpPr/>
          <p:nvPr/>
        </p:nvSpPr>
        <p:spPr>
          <a:xfrm>
            <a:off x="6574536" y="2121408"/>
            <a:ext cx="4809744" cy="402336"/>
          </a:xfrm>
          <a:prstGeom prst="rect">
            <a:avLst/>
          </a:prstGeom>
          <a:noFill/>
          <a:ln/>
        </p:spPr>
        <p:txBody>
          <a:bodyPr wrap="square" lIns="0" tIns="0" rIns="0" bIns="0" rtlCol="0" anchor="t"/>
          <a:lstStyle/>
          <a:p>
            <a:pPr indent="0" marL="0">
              <a:buNone/>
            </a:pPr>
            <a:r>
              <a:rPr lang="en-US" sz="2400" b="1" dirty="0">
                <a:solidFill>
                  <a:srgbClr val="242038"/>
                </a:solidFill>
                <a:latin typeface="Arial" pitchFamily="34" charset="0"/>
                <a:ea typeface="Arial" pitchFamily="34" charset="-122"/>
                <a:cs typeface="Arial" pitchFamily="34" charset="-120"/>
              </a:rPr>
              <a:t>Confirm rollout settings</a:t>
            </a:r>
            <a:endParaRPr lang="en-US" sz="2400" dirty="0"/>
          </a:p>
        </p:txBody>
      </p:sp>
      <p:sp>
        <p:nvSpPr>
          <p:cNvPr id="11" name="Text 9"/>
          <p:cNvSpPr/>
          <p:nvPr/>
        </p:nvSpPr>
        <p:spPr>
          <a:xfrm>
            <a:off x="6647688" y="2852928"/>
            <a:ext cx="4581144" cy="2596896"/>
          </a:xfrm>
          <a:prstGeom prst="rect">
            <a:avLst/>
          </a:prstGeom>
          <a:noFill/>
          <a:ln/>
        </p:spPr>
        <p:txBody>
          <a:bodyPr wrap="square" lIns="0" tIns="0" rIns="0" bIns="0" rtlCol="0" anchor="t"/>
          <a:lstStyle/>
          <a:p>
            <a:pPr marL="279400" indent="-279400">
              <a:buSzPct val="100000"/>
              <a:buChar char="•"/>
            </a:pPr>
            <a:r>
              <a:rPr lang="en-US" sz="2200" dirty="0">
                <a:solidFill>
                  <a:srgbClr val="242038"/>
                </a:solidFill>
                <a:latin typeface="Arial" pitchFamily="34" charset="0"/>
                <a:ea typeface="Arial" pitchFamily="34" charset="-122"/>
                <a:cs typeface="Arial" pitchFamily="34" charset="-120"/>
              </a:rPr>
              <a:t>Confirm HR content and access owners</a:t>
            </a:r>
            <a:endParaRPr lang="en-US" sz="2200" dirty="0"/>
          </a:p>
          <a:p>
            <a:pPr marL="279400" indent="-279400">
              <a:buSzPct val="100000"/>
              <a:buChar char="•"/>
            </a:pPr>
            <a:r>
              <a:rPr lang="en-US" sz="2200" dirty="0">
                <a:solidFill>
                  <a:srgbClr val="242038"/>
                </a:solidFill>
                <a:latin typeface="Arial" pitchFamily="34" charset="0"/>
                <a:ea typeface="Arial" pitchFamily="34" charset="-122"/>
                <a:cs typeface="Arial" pitchFamily="34" charset="-120"/>
              </a:rPr>
              <a:t>Confirm agreed retention settings</a:t>
            </a:r>
            <a:endParaRPr lang="en-US" sz="2200" dirty="0"/>
          </a:p>
          <a:p>
            <a:pPr marL="279400" indent="-279400">
              <a:buSzPct val="100000"/>
              <a:buChar char="•"/>
            </a:pPr>
            <a:r>
              <a:rPr lang="en-US" sz="2200" dirty="0">
                <a:solidFill>
                  <a:srgbClr val="242038"/>
                </a:solidFill>
                <a:latin typeface="Arial" pitchFamily="34" charset="0"/>
                <a:ea typeface="Arial" pitchFamily="34" charset="-122"/>
                <a:cs typeface="Arial" pitchFamily="34" charset="-120"/>
              </a:rPr>
              <a:t>Assign monitoring, recovery and support</a:t>
            </a:r>
            <a:endParaRPr lang="en-US" sz="2200" dirty="0"/>
          </a:p>
          <a:p>
            <a:pPr marL="279400" indent="-279400">
              <a:buSzPct val="100000"/>
              <a:buChar char="•"/>
            </a:pPr>
            <a:r>
              <a:rPr lang="en-US" sz="2200" dirty="0">
                <a:solidFill>
                  <a:srgbClr val="242038"/>
                </a:solidFill>
                <a:latin typeface="Arial" pitchFamily="34" charset="0"/>
                <a:ea typeface="Arial" pitchFamily="34" charset="-122"/>
                <a:cs typeface="Arial" pitchFamily="34" charset="-120"/>
              </a:rPr>
              <a:t>Check mobile and accessible layouts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People Action Check — Updated Pilot Overview</dc:title>
  <dc:subject>People Action Check — review version, October 9, 2026</dc:subject>
  <dc:creator>Melissa A. Weiss</dc:creator>
  <cp:lastModifiedBy>Melissa A. Weiss</cp:lastModifiedBy>
  <cp:revision>1</cp:revision>
  <dcterms:created xsi:type="dcterms:W3CDTF">2026-10-09T21:53:16Z</dcterms:created>
  <dcterms:modified xsi:type="dcterms:W3CDTF">2026-10-09T21:53:16Z</dcterms:modified>
</cp:coreProperties>
</file>